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70" r:id="rId4"/>
    <p:sldId id="258" r:id="rId5"/>
    <p:sldId id="259" r:id="rId6"/>
    <p:sldId id="287" r:id="rId7"/>
    <p:sldId id="288" r:id="rId8"/>
    <p:sldId id="289" r:id="rId9"/>
    <p:sldId id="290" r:id="rId10"/>
    <p:sldId id="291" r:id="rId11"/>
    <p:sldId id="260" r:id="rId12"/>
    <p:sldId id="261" r:id="rId13"/>
    <p:sldId id="262" r:id="rId14"/>
    <p:sldId id="263" r:id="rId15"/>
    <p:sldId id="264" r:id="rId16"/>
    <p:sldId id="265" r:id="rId17"/>
    <p:sldId id="266" r:id="rId18"/>
    <p:sldId id="267" r:id="rId19"/>
    <p:sldId id="268" r:id="rId20"/>
    <p:sldId id="271" r:id="rId21"/>
    <p:sldId id="272" r:id="rId22"/>
    <p:sldId id="273" r:id="rId23"/>
    <p:sldId id="274" r:id="rId24"/>
    <p:sldId id="275" r:id="rId25"/>
    <p:sldId id="276" r:id="rId26"/>
    <p:sldId id="277" r:id="rId27"/>
    <p:sldId id="278" r:id="rId28"/>
    <p:sldId id="279" r:id="rId29"/>
    <p:sldId id="280" r:id="rId30"/>
    <p:sldId id="281" r:id="rId31"/>
    <p:sldId id="292" r:id="rId32"/>
    <p:sldId id="283" r:id="rId33"/>
    <p:sldId id="284" r:id="rId34"/>
    <p:sldId id="285" r:id="rId35"/>
    <p:sldId id="286" r:id="rId36"/>
  </p:sldIdLst>
  <p:sldSz cx="18288000" cy="10287000"/>
  <p:notesSz cx="6858000" cy="9144000"/>
  <p:embeddedFontLst>
    <p:embeddedFont>
      <p:font typeface="Calibri" panose="020F0502020204030204"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2828D2-4F45-47B5-A281-8D1C536DB176}">
          <p14:sldIdLst>
            <p14:sldId id="256"/>
          </p14:sldIdLst>
        </p14:section>
        <p14:section name="Untitled Section" id="{7391EDF4-64BA-4C52-BCB5-A906B3922120}">
          <p14:sldIdLst>
            <p14:sldId id="270"/>
            <p14:sldId id="258"/>
            <p14:sldId id="259"/>
            <p14:sldId id="287"/>
            <p14:sldId id="288"/>
            <p14:sldId id="289"/>
            <p14:sldId id="290"/>
            <p14:sldId id="291"/>
            <p14:sldId id="260"/>
            <p14:sldId id="261"/>
            <p14:sldId id="262"/>
            <p14:sldId id="263"/>
            <p14:sldId id="264"/>
          </p14:sldIdLst>
        </p14:section>
        <p14:section name="Untitled Section" id="{FEAB4458-0747-451C-80D5-442E5C7E9586}">
          <p14:sldIdLst>
            <p14:sldId id="265"/>
            <p14:sldId id="266"/>
            <p14:sldId id="267"/>
            <p14:sldId id="268"/>
            <p14:sldId id="271"/>
            <p14:sldId id="272"/>
            <p14:sldId id="273"/>
            <p14:sldId id="274"/>
            <p14:sldId id="275"/>
            <p14:sldId id="276"/>
            <p14:sldId id="277"/>
            <p14:sldId id="278"/>
            <p14:sldId id="279"/>
            <p14:sldId id="280"/>
            <p14:sldId id="281"/>
            <p14:sldId id="292"/>
            <p14:sldId id="283"/>
            <p14:sldId id="284"/>
            <p14:sldId id="285"/>
            <p14:sldId id="286"/>
          </p14:sldIdLst>
        </p14:section>
      </p14:sectionLst>
    </p:ext>
    <p:ext uri="{EFAFB233-063F-42B5-8137-9DF3F51BA10A}">
      <p15:sldGuideLst xmlns:p15="http://schemas.microsoft.com/office/powerpoint/2012/main">
        <p15:guide id="1" orient="horz" pos="220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07" autoAdjust="0"/>
    <p:restoredTop sz="94622" autoAdjust="0"/>
  </p:normalViewPr>
  <p:slideViewPr>
    <p:cSldViewPr showGuides="1">
      <p:cViewPr varScale="1">
        <p:scale>
          <a:sx n="41" d="100"/>
          <a:sy n="41" d="100"/>
        </p:scale>
        <p:origin x="744" y="52"/>
      </p:cViewPr>
      <p:guideLst>
        <p:guide orient="horz" pos="220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86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font" Target="fonts/font4.fntdata"/><Relationship Id="rId42" Type="http://schemas.openxmlformats.org/officeDocument/2006/relationships/font" Target="fonts/font3.fntdata"/><Relationship Id="rId41" Type="http://schemas.openxmlformats.org/officeDocument/2006/relationships/font" Target="fonts/font2.fntdata"/><Relationship Id="rId40" Type="http://schemas.openxmlformats.org/officeDocument/2006/relationships/font" Target="fonts/font1.fntdata"/><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jpe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6.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6.sv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6.sv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11.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3.jpeg"/><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4.jpeg"/><Relationship Id="rId6" Type="http://schemas.openxmlformats.org/officeDocument/2006/relationships/image" Target="../media/image4.svg"/><Relationship Id="rId5" Type="http://schemas.openxmlformats.org/officeDocument/2006/relationships/image" Target="../media/image11.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5.jpeg"/><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11.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11.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11.png"/><Relationship Id="rId4" Type="http://schemas.openxmlformats.org/officeDocument/2006/relationships/image" Target="../media/image2.svg"/><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8.svg"/><Relationship Id="rId7" Type="http://schemas.openxmlformats.org/officeDocument/2006/relationships/image" Target="../media/image18.png"/><Relationship Id="rId6" Type="http://schemas.openxmlformats.org/officeDocument/2006/relationships/image" Target="../media/image6.svg"/><Relationship Id="rId5" Type="http://schemas.openxmlformats.org/officeDocument/2006/relationships/image" Target="../media/image12.png"/><Relationship Id="rId4" Type="http://schemas.openxmlformats.org/officeDocument/2006/relationships/image" Target="../media/image4.svg"/><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9258300"/>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11741641" y="9029693"/>
            <a:ext cx="4052422" cy="2763015"/>
          </a:xfrm>
          <a:custGeom>
            <a:avLst/>
            <a:gdLst/>
            <a:ahLst/>
            <a:cxnLst/>
            <a:rect l="l" t="t" r="r" b="b"/>
            <a:pathLst>
              <a:path w="4052422" h="2763015">
                <a:moveTo>
                  <a:pt x="0" y="0"/>
                </a:moveTo>
                <a:lnTo>
                  <a:pt x="4052422" y="0"/>
                </a:lnTo>
                <a:lnTo>
                  <a:pt x="4052422"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5400000">
            <a:off x="11531833" y="3358341"/>
            <a:ext cx="13028228" cy="3570318"/>
          </a:xfrm>
          <a:custGeom>
            <a:avLst/>
            <a:gdLst/>
            <a:ahLst/>
            <a:cxnLst/>
            <a:rect l="l" t="t" r="r" b="b"/>
            <a:pathLst>
              <a:path w="13028228" h="3570318">
                <a:moveTo>
                  <a:pt x="0" y="0"/>
                </a:moveTo>
                <a:lnTo>
                  <a:pt x="13028228" y="0"/>
                </a:lnTo>
                <a:lnTo>
                  <a:pt x="13028228" y="3570318"/>
                </a:lnTo>
                <a:lnTo>
                  <a:pt x="0" y="35703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flipH="1" flipV="1">
            <a:off x="-6181414" y="3641294"/>
            <a:ext cx="13028228" cy="3570318"/>
          </a:xfrm>
          <a:custGeom>
            <a:avLst/>
            <a:gdLst/>
            <a:ahLst/>
            <a:cxnLst/>
            <a:rect l="l" t="t" r="r" b="b"/>
            <a:pathLst>
              <a:path w="13028228" h="3570318">
                <a:moveTo>
                  <a:pt x="13028228" y="3570318"/>
                </a:moveTo>
                <a:lnTo>
                  <a:pt x="0" y="3570318"/>
                </a:lnTo>
                <a:lnTo>
                  <a:pt x="0" y="0"/>
                </a:lnTo>
                <a:lnTo>
                  <a:pt x="13028228" y="0"/>
                </a:lnTo>
                <a:lnTo>
                  <a:pt x="13028228" y="357031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028700" y="1029745"/>
            <a:ext cx="460990" cy="455123"/>
          </a:xfrm>
          <a:custGeom>
            <a:avLst/>
            <a:gdLst/>
            <a:ahLst/>
            <a:cxnLst/>
            <a:rect l="l" t="t" r="r" b="b"/>
            <a:pathLst>
              <a:path w="460990" h="455123">
                <a:moveTo>
                  <a:pt x="0" y="0"/>
                </a:moveTo>
                <a:lnTo>
                  <a:pt x="460990" y="0"/>
                </a:lnTo>
                <a:lnTo>
                  <a:pt x="460990" y="455123"/>
                </a:lnTo>
                <a:lnTo>
                  <a:pt x="0" y="4551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5804395" y="0"/>
            <a:ext cx="6165977" cy="6130803"/>
          </a:xfrm>
          <a:custGeom>
            <a:avLst/>
            <a:gdLst/>
            <a:ahLst/>
            <a:cxnLst/>
            <a:rect l="l" t="t" r="r" b="b"/>
            <a:pathLst>
              <a:path w="6165977" h="6130803">
                <a:moveTo>
                  <a:pt x="0" y="0"/>
                </a:moveTo>
                <a:lnTo>
                  <a:pt x="6165977" y="0"/>
                </a:lnTo>
                <a:lnTo>
                  <a:pt x="6165977" y="6130803"/>
                </a:lnTo>
                <a:lnTo>
                  <a:pt x="0" y="6130803"/>
                </a:lnTo>
                <a:lnTo>
                  <a:pt x="0" y="0"/>
                </a:lnTo>
                <a:close/>
              </a:path>
            </a:pathLst>
          </a:custGeom>
          <a:blipFill>
            <a:blip r:embed="rId9"/>
            <a:stretch>
              <a:fillRect l="-7108" t="-2999" r="-6714" b="-11476"/>
            </a:stretch>
          </a:blipFill>
        </p:spPr>
      </p:sp>
      <p:sp>
        <p:nvSpPr>
          <p:cNvPr id="10" name="TextBox 10"/>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01</a:t>
            </a:r>
            <a:endPar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extBox 11"/>
          <p:cNvSpPr txBox="1"/>
          <p:nvPr/>
        </p:nvSpPr>
        <p:spPr>
          <a:xfrm>
            <a:off x="2905840" y="6224038"/>
            <a:ext cx="13354948" cy="648896"/>
          </a:xfrm>
          <a:prstGeom prst="rect">
            <a:avLst/>
          </a:prstGeom>
        </p:spPr>
        <p:txBody>
          <a:bodyPr lIns="0" tIns="0" rIns="0" bIns="0" rtlCol="0" anchor="t">
            <a:spAutoFit/>
          </a:bodyPr>
          <a:lstStyle/>
          <a:p>
            <a:pPr algn="ctr">
              <a:lnSpc>
                <a:spcPts val="5355"/>
              </a:lnSpc>
              <a:spcBef>
                <a:spcPct val="0"/>
              </a:spcBef>
            </a:pPr>
            <a:r>
              <a:rPr lang="en-US" sz="3825" b="1" dirty="0">
                <a:solidFill>
                  <a:srgbClr val="000000"/>
                </a:solidFill>
                <a:latin typeface="+mj-lt"/>
                <a:ea typeface="One Little Font Bold"/>
                <a:cs typeface="One Little Font Bold"/>
                <a:sym typeface="One Little Font Bold"/>
              </a:rPr>
              <a:t>Batch Flow: A POS BASED SUPPLY CHAIN MANAGEMENT SYSTEM</a:t>
            </a:r>
            <a:endParaRPr lang="en-US" sz="3825" b="1" dirty="0">
              <a:solidFill>
                <a:srgbClr val="000000"/>
              </a:solidFill>
              <a:latin typeface="+mj-lt"/>
              <a:ea typeface="One Little Font Bold"/>
              <a:cs typeface="One Little Font Bold"/>
              <a:sym typeface="One Little Font Bold"/>
            </a:endParaRPr>
          </a:p>
        </p:txBody>
      </p:sp>
      <p:sp>
        <p:nvSpPr>
          <p:cNvPr id="12" name="TextBox 12"/>
          <p:cNvSpPr txBox="1"/>
          <p:nvPr/>
        </p:nvSpPr>
        <p:spPr>
          <a:xfrm>
            <a:off x="5686009" y="6972549"/>
            <a:ext cx="6742831" cy="2869565"/>
          </a:xfrm>
          <a:prstGeom prst="rect">
            <a:avLst/>
          </a:prstGeom>
        </p:spPr>
        <p:txBody>
          <a:bodyPr lIns="0" tIns="0" rIns="0" bIns="0" rtlCol="0" anchor="t">
            <a:spAutoFit/>
          </a:bodyPr>
          <a:lstStyle/>
          <a:p>
            <a:pPr algn="ctr">
              <a:lnSpc>
                <a:spcPts val="5595"/>
              </a:lnSpc>
            </a:pPr>
            <a:r>
              <a:rPr lang="en-US" sz="3995" dirty="0">
                <a:solidFill>
                  <a:srgbClr val="000000"/>
                </a:solidFill>
                <a:latin typeface="+mj-lt"/>
                <a:ea typeface="One Little Font" panose="00000500000000000000"/>
                <a:cs typeface="One Little Font" panose="00000500000000000000"/>
                <a:sym typeface="One Little Font" panose="00000500000000000000"/>
              </a:rPr>
              <a:t>Presented by:</a:t>
            </a:r>
            <a:endParaRPr lang="en-US" sz="3995" dirty="0">
              <a:solidFill>
                <a:srgbClr val="000000"/>
              </a:solidFill>
              <a:latin typeface="+mj-lt"/>
              <a:ea typeface="One Little Font" panose="00000500000000000000"/>
              <a:cs typeface="One Little Font" panose="00000500000000000000"/>
              <a:sym typeface="One Little Font" panose="00000500000000000000"/>
            </a:endParaRPr>
          </a:p>
          <a:p>
            <a:pPr algn="ctr">
              <a:lnSpc>
                <a:spcPts val="5595"/>
              </a:lnSpc>
            </a:pPr>
            <a:r>
              <a:rPr lang="en-US" sz="3995" dirty="0">
                <a:solidFill>
                  <a:srgbClr val="000000"/>
                </a:solidFill>
                <a:latin typeface="+mj-lt"/>
                <a:ea typeface="One Little Font" panose="00000500000000000000"/>
                <a:cs typeface="One Little Font" panose="00000500000000000000"/>
                <a:sym typeface="One Little Font" panose="00000500000000000000"/>
              </a:rPr>
              <a:t>Dranreb Vallesteros </a:t>
            </a:r>
            <a:endParaRPr lang="en-US" sz="3995" dirty="0">
              <a:solidFill>
                <a:srgbClr val="000000"/>
              </a:solidFill>
              <a:latin typeface="+mj-lt"/>
              <a:ea typeface="One Little Font" panose="00000500000000000000"/>
              <a:cs typeface="One Little Font" panose="00000500000000000000"/>
              <a:sym typeface="One Little Font" panose="00000500000000000000"/>
            </a:endParaRPr>
          </a:p>
          <a:p>
            <a:pPr algn="ctr">
              <a:lnSpc>
                <a:spcPts val="5595"/>
              </a:lnSpc>
            </a:pPr>
            <a:r>
              <a:rPr lang="en-US" sz="3995" dirty="0">
                <a:solidFill>
                  <a:srgbClr val="000000"/>
                </a:solidFill>
                <a:latin typeface="+mj-lt"/>
                <a:ea typeface="One Little Font" panose="00000500000000000000"/>
                <a:cs typeface="One Little Font" panose="00000500000000000000"/>
                <a:sym typeface="One Little Font" panose="00000500000000000000"/>
              </a:rPr>
              <a:t>Claire Alysa </a:t>
            </a:r>
            <a:r>
              <a:rPr lang="en-US" sz="3995" dirty="0" err="1">
                <a:solidFill>
                  <a:srgbClr val="000000"/>
                </a:solidFill>
                <a:latin typeface="+mj-lt"/>
                <a:ea typeface="One Little Font" panose="00000500000000000000"/>
                <a:cs typeface="One Little Font" panose="00000500000000000000"/>
                <a:sym typeface="One Little Font" panose="00000500000000000000"/>
              </a:rPr>
              <a:t>Teoxon</a:t>
            </a:r>
            <a:r>
              <a:rPr lang="en-US" sz="3995" dirty="0">
                <a:solidFill>
                  <a:srgbClr val="000000"/>
                </a:solidFill>
                <a:latin typeface="+mj-lt"/>
                <a:ea typeface="One Little Font" panose="00000500000000000000"/>
                <a:cs typeface="One Little Font" panose="00000500000000000000"/>
                <a:sym typeface="One Little Font" panose="00000500000000000000"/>
              </a:rPr>
              <a:t> </a:t>
            </a:r>
            <a:endParaRPr lang="en-US" sz="3995" dirty="0">
              <a:solidFill>
                <a:srgbClr val="000000"/>
              </a:solidFill>
              <a:latin typeface="+mj-lt"/>
              <a:ea typeface="One Little Font" panose="00000500000000000000"/>
              <a:cs typeface="One Little Font" panose="00000500000000000000"/>
              <a:sym typeface="One Little Font" panose="00000500000000000000"/>
            </a:endParaRPr>
          </a:p>
          <a:p>
            <a:pPr algn="ctr">
              <a:lnSpc>
                <a:spcPts val="5595"/>
              </a:lnSpc>
              <a:spcBef>
                <a:spcPct val="0"/>
              </a:spcBef>
            </a:pPr>
            <a:r>
              <a:rPr lang="en-US" sz="3995" dirty="0">
                <a:solidFill>
                  <a:srgbClr val="000000"/>
                </a:solidFill>
                <a:latin typeface="+mj-lt"/>
                <a:ea typeface="One Little Font" panose="00000500000000000000"/>
                <a:cs typeface="One Little Font" panose="00000500000000000000"/>
                <a:sym typeface="One Little Font" panose="00000500000000000000"/>
              </a:rPr>
              <a:t>John Ismael Sandoval </a:t>
            </a:r>
            <a:endParaRPr lang="en-US" sz="3995"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flipH="1" flipV="1">
            <a:off x="7428033" y="-1023310"/>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350236" y="851987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4864401" y="3700992"/>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11334220" y="-347539"/>
            <a:ext cx="8637770" cy="10982077"/>
            <a:chOff x="0" y="0"/>
            <a:chExt cx="2274968" cy="2892399"/>
          </a:xfrm>
        </p:grpSpPr>
        <p:sp>
          <p:nvSpPr>
            <p:cNvPr id="6" name="Freeform 6"/>
            <p:cNvSpPr/>
            <p:nvPr/>
          </p:nvSpPr>
          <p:spPr>
            <a:xfrm>
              <a:off x="0" y="0"/>
              <a:ext cx="2274968" cy="2892399"/>
            </a:xfrm>
            <a:custGeom>
              <a:avLst/>
              <a:gdLst/>
              <a:ahLst/>
              <a:cxnLst/>
              <a:rect l="l" t="t" r="r" b="b"/>
              <a:pathLst>
                <a:path w="2274968" h="2892399">
                  <a:moveTo>
                    <a:pt x="0" y="0"/>
                  </a:moveTo>
                  <a:lnTo>
                    <a:pt x="2274968" y="0"/>
                  </a:lnTo>
                  <a:lnTo>
                    <a:pt x="2274968" y="2892399"/>
                  </a:lnTo>
                  <a:lnTo>
                    <a:pt x="0" y="2892399"/>
                  </a:lnTo>
                  <a:close/>
                </a:path>
              </a:pathLst>
            </a:custGeom>
            <a:solidFill>
              <a:srgbClr val="FCE38B"/>
            </a:solidFill>
          </p:spPr>
        </p:sp>
        <p:sp>
          <p:nvSpPr>
            <p:cNvPr id="7" name="TextBox 7"/>
            <p:cNvSpPr txBox="1"/>
            <p:nvPr/>
          </p:nvSpPr>
          <p:spPr>
            <a:xfrm>
              <a:off x="0" y="-38100"/>
              <a:ext cx="2274968" cy="2930499"/>
            </a:xfrm>
            <a:prstGeom prst="rect">
              <a:avLst/>
            </a:prstGeom>
          </p:spPr>
          <p:txBody>
            <a:bodyPr lIns="50800" tIns="50800" rIns="50800" bIns="50800" rtlCol="0" anchor="ctr"/>
            <a:lstStyle/>
            <a:p>
              <a:pPr algn="ctr">
                <a:lnSpc>
                  <a:spcPts val="2660"/>
                </a:lnSpc>
                <a:spcBef>
                  <a:spcPct val="0"/>
                </a:spcBef>
              </a:pPr>
            </a:p>
          </p:txBody>
        </p:sp>
      </p:grpSp>
      <p:sp>
        <p:nvSpPr>
          <p:cNvPr id="8" name="TextBox 8"/>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02</a:t>
            </a:r>
            <a:endPar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itle 10"/>
          <p:cNvSpPr>
            <a:spLocks noGrp="1"/>
          </p:cNvSpPr>
          <p:nvPr>
            <p:ph type="title"/>
          </p:nvPr>
        </p:nvSpPr>
        <p:spPr>
          <a:xfrm>
            <a:off x="457200" y="274638"/>
            <a:ext cx="17678400" cy="8242028"/>
          </a:xfrm>
        </p:spPr>
        <p:txBody>
          <a:bodyPr>
            <a:normAutofit/>
          </a:bodyPr>
          <a:lstStyle/>
          <a:p>
            <a:r>
              <a:rPr lang="en-PH" sz="8000" dirty="0"/>
              <a:t>CHAPTER 1</a:t>
            </a:r>
            <a:br>
              <a:rPr lang="en-PH" sz="8000" dirty="0"/>
            </a:br>
            <a:br>
              <a:rPr lang="en-PH" sz="8000" dirty="0"/>
            </a:br>
            <a:r>
              <a:rPr lang="en-PH" sz="8000" dirty="0"/>
              <a:t>INTRODUCTION</a:t>
            </a:r>
            <a:endParaRPr lang="en-PH" sz="8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6351266" y="3673189"/>
            <a:ext cx="10527535" cy="2885016"/>
          </a:xfrm>
          <a:custGeom>
            <a:avLst/>
            <a:gdLst/>
            <a:ahLst/>
            <a:cxnLst/>
            <a:rect l="l" t="t" r="r" b="b"/>
            <a:pathLst>
              <a:path w="10527535" h="2885016">
                <a:moveTo>
                  <a:pt x="0" y="0"/>
                </a:moveTo>
                <a:lnTo>
                  <a:pt x="10527536" y="0"/>
                </a:lnTo>
                <a:lnTo>
                  <a:pt x="10527536" y="2885016"/>
                </a:lnTo>
                <a:lnTo>
                  <a:pt x="0" y="28850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94056"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4834442" y="-1099005"/>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626187" y="9253031"/>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03</a:t>
            </a:r>
            <a:endPar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197982" y="-102951"/>
            <a:ext cx="8901769" cy="1084449"/>
          </a:xfrm>
          <a:prstGeom prst="rect">
            <a:avLst/>
          </a:prstGeom>
        </p:spPr>
        <p:txBody>
          <a:bodyPr lIns="0" tIns="0" rIns="0" bIns="0" rtlCol="0" anchor="t">
            <a:spAutoFit/>
          </a:bodyPr>
          <a:lstStyle/>
          <a:p>
            <a:pPr algn="ctr">
              <a:lnSpc>
                <a:spcPts val="8825"/>
              </a:lnSpc>
              <a:spcBef>
                <a:spcPct val="0"/>
              </a:spcBef>
            </a:pPr>
            <a:r>
              <a:rPr lang="en-US" sz="6305" dirty="0">
                <a:solidFill>
                  <a:srgbClr val="000000"/>
                </a:solidFill>
                <a:latin typeface="+mj-lt"/>
                <a:ea typeface="One Little Font" panose="00000500000000000000"/>
                <a:cs typeface="One Little Font" panose="00000500000000000000"/>
                <a:sym typeface="One Little Font" panose="00000500000000000000"/>
              </a:rPr>
              <a:t>Background of the Study:</a:t>
            </a:r>
            <a:endParaRPr lang="en-US" sz="630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468630" y="1013460"/>
            <a:ext cx="18670905" cy="8944610"/>
          </a:xfrm>
          <a:prstGeom prst="rect">
            <a:avLst/>
          </a:prstGeom>
        </p:spPr>
        <p:txBody>
          <a:bodyPr wrap="square" lIns="0" tIns="0" rIns="0" bIns="0" rtlCol="0" anchor="t">
            <a:spAutoFit/>
          </a:bodyPr>
          <a:lstStyle/>
          <a:p>
            <a:pPr algn="just">
              <a:lnSpc>
                <a:spcPts val="6975"/>
              </a:lnSpc>
              <a:spcBef>
                <a:spcPct val="0"/>
              </a:spcBef>
            </a:pPr>
            <a:r>
              <a:rPr lang="en-US" altLang="en-US" sz="4400" dirty="0">
                <a:solidFill>
                  <a:srgbClr val="000000"/>
                </a:solidFill>
                <a:latin typeface="+mj-lt"/>
                <a:ea typeface="One Little Font" panose="00000500000000000000"/>
                <a:cs typeface="One Little Font" panose="00000500000000000000"/>
                <a:sym typeface="One Little Font" panose="00000500000000000000"/>
              </a:rPr>
              <a:t>Many bakeries still use manual methods to manage sales, inventory, and supplies.</a:t>
            </a:r>
            <a:endParaRPr lang="en-US" altLang="en-US" sz="44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975"/>
              </a:lnSpc>
              <a:spcBef>
                <a:spcPct val="0"/>
              </a:spcBef>
            </a:pPr>
            <a:r>
              <a:rPr lang="en-US" altLang="en-US" sz="4400" dirty="0">
                <a:solidFill>
                  <a:srgbClr val="000000"/>
                </a:solidFill>
                <a:latin typeface="+mj-lt"/>
                <a:ea typeface="One Little Font" panose="00000500000000000000"/>
                <a:cs typeface="One Little Font" panose="00000500000000000000"/>
                <a:sym typeface="One Little Font" panose="00000500000000000000"/>
              </a:rPr>
              <a:t>These manual processes often cause delays, errors, and product shortages.</a:t>
            </a:r>
            <a:endParaRPr lang="en-US" altLang="en-US" sz="44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975"/>
              </a:lnSpc>
              <a:spcBef>
                <a:spcPct val="0"/>
              </a:spcBef>
            </a:pPr>
            <a:r>
              <a:rPr lang="en-US" altLang="en-US" sz="4400" dirty="0">
                <a:solidFill>
                  <a:srgbClr val="000000"/>
                </a:solidFill>
                <a:latin typeface="+mj-lt"/>
                <a:ea typeface="One Little Font" panose="00000500000000000000"/>
                <a:cs typeface="One Little Font" panose="00000500000000000000"/>
                <a:sym typeface="One Little Font" panose="00000500000000000000"/>
              </a:rPr>
              <a:t>As customer demand increases, bakeries need more efficient systems to handle daily operations.</a:t>
            </a:r>
            <a:r>
              <a:rPr lang="en-PH" altLang="en-US" sz="44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400" dirty="0">
                <a:solidFill>
                  <a:srgbClr val="000000"/>
                </a:solidFill>
                <a:latin typeface="+mj-lt"/>
                <a:ea typeface="One Little Font" panose="00000500000000000000"/>
                <a:cs typeface="One Little Font" panose="00000500000000000000"/>
                <a:sym typeface="One Little Font" panose="00000500000000000000"/>
              </a:rPr>
              <a:t>A Point of Sale (POS) system is a tool that processes sales transactions and manages inventory.</a:t>
            </a:r>
            <a:endParaRPr lang="en-US" altLang="en-US" sz="44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975"/>
              </a:lnSpc>
              <a:spcBef>
                <a:spcPct val="0"/>
              </a:spcBef>
            </a:pPr>
            <a:r>
              <a:rPr lang="en-US" altLang="en-US" sz="4400" dirty="0">
                <a:solidFill>
                  <a:srgbClr val="000000"/>
                </a:solidFill>
                <a:latin typeface="+mj-lt"/>
                <a:ea typeface="One Little Font" panose="00000500000000000000"/>
                <a:cs typeface="One Little Font" panose="00000500000000000000"/>
                <a:sym typeface="One Little Font" panose="00000500000000000000"/>
              </a:rPr>
              <a:t>This study focuses on developing a web-based POS and supply chain management system for bakeries.</a:t>
            </a:r>
            <a:r>
              <a:rPr lang="en-PH" altLang="en-US" sz="44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400" dirty="0">
                <a:solidFill>
                  <a:srgbClr val="000000"/>
                </a:solidFill>
                <a:latin typeface="+mj-lt"/>
                <a:ea typeface="One Little Font" panose="00000500000000000000"/>
                <a:cs typeface="One Little Font" panose="00000500000000000000"/>
                <a:sym typeface="One Little Font" panose="00000500000000000000"/>
              </a:rPr>
              <a:t>The system aims to improve efficiency, reduce errors, and enhance customer service.</a:t>
            </a:r>
            <a:endParaRPr lang="en-US" altLang="en-US" sz="44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975"/>
              </a:lnSpc>
              <a:spcBef>
                <a:spcPct val="0"/>
              </a:spcBef>
            </a:pPr>
            <a:endParaRPr lang="en-US" altLang="en-US" sz="44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975"/>
              </a:lnSpc>
              <a:spcBef>
                <a:spcPct val="0"/>
              </a:spcBef>
            </a:pPr>
            <a:endParaRPr lang="en-US" altLang="en-US" sz="44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458923" y="4908669"/>
            <a:ext cx="4052422" cy="2763015"/>
          </a:xfrm>
          <a:custGeom>
            <a:avLst/>
            <a:gdLst/>
            <a:ahLst/>
            <a:cxnLst/>
            <a:rect l="l" t="t" r="r" b="b"/>
            <a:pathLst>
              <a:path w="4052422" h="2763015">
                <a:moveTo>
                  <a:pt x="4052422" y="0"/>
                </a:moveTo>
                <a:lnTo>
                  <a:pt x="0" y="0"/>
                </a:lnTo>
                <a:lnTo>
                  <a:pt x="0" y="2763014"/>
                </a:lnTo>
                <a:lnTo>
                  <a:pt x="4052422" y="2763014"/>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092155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2133600" y="2857500"/>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04</a:t>
            </a:r>
            <a:endPar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6" name="Freeform 6"/>
          <p:cNvSpPr/>
          <p:nvPr/>
        </p:nvSpPr>
        <p:spPr>
          <a:xfrm>
            <a:off x="4192750" y="8975672"/>
            <a:ext cx="3294021" cy="2198010"/>
          </a:xfrm>
          <a:custGeom>
            <a:avLst/>
            <a:gdLst/>
            <a:ahLst/>
            <a:cxnLst/>
            <a:rect l="l" t="t" r="r" b="b"/>
            <a:pathLst>
              <a:path w="3294021" h="2198010">
                <a:moveTo>
                  <a:pt x="0" y="0"/>
                </a:moveTo>
                <a:lnTo>
                  <a:pt x="3294021" y="0"/>
                </a:lnTo>
                <a:lnTo>
                  <a:pt x="3294021" y="2198010"/>
                </a:lnTo>
                <a:lnTo>
                  <a:pt x="0" y="2198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575727" y="8632169"/>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8951808" y="8699796"/>
            <a:ext cx="10527535" cy="2885016"/>
          </a:xfrm>
          <a:custGeom>
            <a:avLst/>
            <a:gdLst/>
            <a:ahLst/>
            <a:cxnLst/>
            <a:rect l="l" t="t" r="r" b="b"/>
            <a:pathLst>
              <a:path w="10527535" h="2885016">
                <a:moveTo>
                  <a:pt x="0" y="0"/>
                </a:moveTo>
                <a:lnTo>
                  <a:pt x="10527536" y="0"/>
                </a:lnTo>
                <a:lnTo>
                  <a:pt x="10527536" y="2885017"/>
                </a:lnTo>
                <a:lnTo>
                  <a:pt x="0" y="28850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0" y="14060"/>
            <a:ext cx="6324600" cy="1064394"/>
          </a:xfrm>
          <a:prstGeom prst="rect">
            <a:avLst/>
          </a:prstGeom>
        </p:spPr>
        <p:txBody>
          <a:bodyPr wrap="square" lIns="0" tIns="0" rIns="0" bIns="0" rtlCol="0" anchor="t">
            <a:spAutoFit/>
          </a:bodyPr>
          <a:lstStyle/>
          <a:p>
            <a:pPr algn="ctr">
              <a:lnSpc>
                <a:spcPts val="8270"/>
              </a:lnSpc>
              <a:spcBef>
                <a:spcPct val="0"/>
              </a:spcBef>
            </a:pPr>
            <a:r>
              <a:rPr lang="en-US" sz="5905" dirty="0">
                <a:solidFill>
                  <a:srgbClr val="000000"/>
                </a:solidFill>
                <a:latin typeface="+mj-lt"/>
                <a:ea typeface="One Little Font" panose="00000500000000000000"/>
                <a:cs typeface="One Little Font" panose="00000500000000000000"/>
                <a:sym typeface="One Little Font" panose="00000500000000000000"/>
              </a:rPr>
              <a:t>Problem Statement</a:t>
            </a:r>
            <a:r>
              <a:rPr lang="en-US" sz="5905"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a:t>
            </a:r>
            <a:endParaRPr lang="en-US" sz="5905"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233680" y="800100"/>
            <a:ext cx="17804130" cy="8502015"/>
          </a:xfrm>
          <a:prstGeom prst="rect">
            <a:avLst/>
          </a:prstGeom>
        </p:spPr>
        <p:txBody>
          <a:bodyPr wrap="square" lIns="0" tIns="0" rIns="0" bIns="0" rtlCol="0" anchor="t">
            <a:spAutoFit/>
          </a:bodyPr>
          <a:lstStyle/>
          <a:p>
            <a:pPr algn="just">
              <a:lnSpc>
                <a:spcPts val="663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There are several factors that affect bakery operations and system adoption.</a:t>
            </a:r>
            <a:r>
              <a:rPr lang="en-PH" altLang="en-US" sz="36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3600" dirty="0">
                <a:solidFill>
                  <a:srgbClr val="000000"/>
                </a:solidFill>
                <a:latin typeface="+mj-lt"/>
                <a:ea typeface="One Little Font" panose="00000500000000000000"/>
                <a:cs typeface="One Little Font" panose="00000500000000000000"/>
                <a:sym typeface="One Little Font" panose="00000500000000000000"/>
              </a:rPr>
              <a:t>One major issue is poor communication between subordinates and management, which can lead to rejection of system proposals.</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63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Bakeries are also facing reduced visibility due to competition from larger and more popular bakeshops such as Goldilocks.</a:t>
            </a:r>
            <a:r>
              <a:rPr lang="en-PH" altLang="en-US" sz="36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3600" dirty="0">
                <a:solidFill>
                  <a:srgbClr val="000000"/>
                </a:solidFill>
                <a:latin typeface="+mj-lt"/>
                <a:ea typeface="One Little Font" panose="00000500000000000000"/>
                <a:cs typeface="One Little Font" panose="00000500000000000000"/>
                <a:sym typeface="One Little Font" panose="00000500000000000000"/>
              </a:rPr>
              <a:t>Modern marketing strategies like “oven on wheels” have also changed customer preferences and market competition.</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63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Because of these challenges, bakeries need better systems to stay competitive and organized.</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63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This study aims to develop Batch Flow: A POS-Based Supply Chain Management System for bakery businesses.</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630"/>
              </a:lnSpc>
              <a:spcBef>
                <a:spcPct val="0"/>
              </a:spcBef>
            </a:pPr>
            <a:endParaRPr lang="en-US" sz="36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2308791" y="898915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05</a:t>
            </a:r>
            <a:endPar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228600" y="0"/>
            <a:ext cx="16438880" cy="1116965"/>
          </a:xfrm>
          <a:prstGeom prst="rect">
            <a:avLst/>
          </a:prstGeom>
        </p:spPr>
        <p:txBody>
          <a:bodyPr wrap="square" lIns="0" tIns="0" rIns="0" bIns="0" rtlCol="0" anchor="t">
            <a:spAutoFit/>
          </a:bodyPr>
          <a:lstStyle/>
          <a:p>
            <a:pPr algn="l">
              <a:lnSpc>
                <a:spcPts val="8710"/>
              </a:lnSpc>
              <a:spcBef>
                <a:spcPct val="0"/>
              </a:spcBef>
            </a:pPr>
            <a:r>
              <a:rPr lang="en-US" altLang="en-US" sz="5400" b="1" dirty="0">
                <a:solidFill>
                  <a:srgbClr val="000000"/>
                </a:solidFill>
                <a:latin typeface="+mj-lt"/>
                <a:ea typeface="One Little Font" panose="00000500000000000000"/>
                <a:cs typeface="One Little Font" panose="00000500000000000000"/>
                <a:sym typeface="One Little Font" panose="00000500000000000000"/>
              </a:rPr>
              <a:t>Manual and Time-Consuming Sales Transactions</a:t>
            </a:r>
            <a:endParaRPr lang="en-US" alt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228600" y="976630"/>
            <a:ext cx="17572355" cy="5751195"/>
          </a:xfrm>
          <a:prstGeom prst="rect">
            <a:avLst/>
          </a:prstGeom>
        </p:spPr>
        <p:txBody>
          <a:bodyPr wrap="square" lIns="0" tIns="0" rIns="0" bIns="0" rtlCol="0" anchor="t">
            <a:noAutofit/>
          </a:bodyPr>
          <a:lstStyle/>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Many bakery businesses still use manual methods such as handwritten receipts and calculators for customer transactions.</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This process takes a lot of time, especially during busy hours with many customers waiting in line.</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These inaccurate transactions can lead to customer dissatisfaction and financial losses for the business.</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Because of these challenges, bakeries need a POS-based system that can automate transactions and improve the speed and accuracy of sales processing.</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2308791" y="898915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615447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6</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228600" y="0"/>
            <a:ext cx="16438880" cy="1116965"/>
          </a:xfrm>
          <a:prstGeom prst="rect">
            <a:avLst/>
          </a:prstGeom>
        </p:spPr>
        <p:txBody>
          <a:bodyPr wrap="square" lIns="0" tIns="0" rIns="0" bIns="0" rtlCol="0" anchor="t">
            <a:spAutoFit/>
          </a:bodyPr>
          <a:lstStyle/>
          <a:p>
            <a:pPr algn="l">
              <a:lnSpc>
                <a:spcPts val="8710"/>
              </a:lnSpc>
              <a:spcBef>
                <a:spcPct val="0"/>
              </a:spcBef>
            </a:pPr>
            <a:r>
              <a:rPr lang="en-US" altLang="en-US" sz="5400" b="1" dirty="0">
                <a:solidFill>
                  <a:srgbClr val="000000"/>
                </a:solidFill>
                <a:latin typeface="+mj-lt"/>
                <a:ea typeface="One Little Font" panose="00000500000000000000"/>
                <a:cs typeface="One Little Font" panose="00000500000000000000"/>
                <a:sym typeface="One Little Font" panose="00000500000000000000"/>
              </a:rPr>
              <a:t>Inaccurate Inventory Monitoring</a:t>
            </a:r>
            <a:endParaRPr lang="en-US" alt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152400" y="959485"/>
            <a:ext cx="17572355" cy="6657975"/>
          </a:xfrm>
          <a:prstGeom prst="rect">
            <a:avLst/>
          </a:prstGeom>
        </p:spPr>
        <p:txBody>
          <a:bodyPr wrap="square" lIns="0" tIns="0" rIns="0" bIns="0" rtlCol="0" anchor="t">
            <a:spAutoFit/>
          </a:bodyPr>
          <a:lstStyle/>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 bakery faces difficulties in monitoring raw materials and finished products because of manual inventory recording.</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This can result in overstocking, product wastage, and shortages of important ingredients.</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Inaccurate inventory tracking also affects the bakery’s ability to meet customer demand consistently.</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Because of this, an automated inventory management feature is needed to provide real-time stock monitoring and accurate inventory records.</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2308791" y="898915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615447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7</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228600" y="0"/>
            <a:ext cx="16438880" cy="1116965"/>
          </a:xfrm>
          <a:prstGeom prst="rect">
            <a:avLst/>
          </a:prstGeom>
        </p:spPr>
        <p:txBody>
          <a:bodyPr wrap="square" lIns="0" tIns="0" rIns="0" bIns="0" rtlCol="0" anchor="t">
            <a:spAutoFit/>
          </a:bodyPr>
          <a:lstStyle/>
          <a:p>
            <a:pPr algn="l">
              <a:lnSpc>
                <a:spcPts val="8710"/>
              </a:lnSpc>
              <a:spcBef>
                <a:spcPct val="0"/>
              </a:spcBef>
            </a:pPr>
            <a:r>
              <a:rPr lang="en-US" altLang="en-US" sz="5400" b="1" dirty="0">
                <a:solidFill>
                  <a:srgbClr val="000000"/>
                </a:solidFill>
                <a:latin typeface="+mj-lt"/>
                <a:ea typeface="One Little Font" panose="00000500000000000000"/>
                <a:cs typeface="One Little Font" panose="00000500000000000000"/>
                <a:sym typeface="One Little Font" panose="00000500000000000000"/>
              </a:rPr>
              <a:t>Lack of Real-Time Supply Chain Tracking</a:t>
            </a:r>
            <a:endParaRPr lang="en-US" alt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152400" y="959485"/>
            <a:ext cx="17826990" cy="7724775"/>
          </a:xfrm>
          <a:prstGeom prst="rect">
            <a:avLst/>
          </a:prstGeom>
        </p:spPr>
        <p:txBody>
          <a:bodyPr wrap="square" lIns="0" tIns="0" rIns="0" bIns="0" rtlCol="0" anchor="t">
            <a:noAutofit/>
          </a:bodyPr>
          <a:lstStyle/>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The current bakery system does not provide real-time monitoring of supplier transactions, deliveries, and purchase orders.</a:t>
            </a:r>
            <a:r>
              <a:rPr lang="en-PH" altLang="en-US" sz="36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This makes it difficult for management to track the movement of supplies from suppliers to the bakery.</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Delays in deliveries and unrecorded transactions may disrupt production schedules and product availability.</a:t>
            </a:r>
            <a:r>
              <a:rPr lang="en-PH" altLang="en-US" sz="36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3600" dirty="0">
                <a:solidFill>
                  <a:srgbClr val="000000"/>
                </a:solidFill>
                <a:latin typeface="+mj-lt"/>
                <a:ea typeface="One Little Font" panose="00000500000000000000"/>
                <a:cs typeface="One Little Font" panose="00000500000000000000"/>
                <a:sym typeface="One Little Font" panose="00000500000000000000"/>
              </a:rPr>
              <a:t>Without a centralized system, communication between suppliers and the bakery becomes less efficient.</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The proposed system aims to improve supply chain operations through organized and real-time tracking of supply activities.</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2268151" y="902979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txBody>
          <a:bodyPr/>
          <a:p>
            <a:endParaRPr lang="en-US"/>
          </a:p>
        </p:txBody>
      </p:sp>
      <p:sp>
        <p:nvSpPr>
          <p:cNvPr id="8" name="TextBox 8"/>
          <p:cNvSpPr txBox="1"/>
          <p:nvPr/>
        </p:nvSpPr>
        <p:spPr>
          <a:xfrm>
            <a:off x="16154470" y="864868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8</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228600" y="0"/>
            <a:ext cx="16438880" cy="831850"/>
          </a:xfrm>
          <a:prstGeom prst="rect">
            <a:avLst/>
          </a:prstGeom>
        </p:spPr>
        <p:txBody>
          <a:bodyPr wrap="square" lIns="0" tIns="0" rIns="0" bIns="0" rtlCol="0" anchor="t">
            <a:spAutoFit/>
          </a:bodyPr>
          <a:lstStyle/>
          <a:p>
            <a:pPr algn="just">
              <a:lnSpc>
                <a:spcPts val="6490"/>
              </a:lnSpc>
              <a:spcBef>
                <a:spcPct val="0"/>
              </a:spcBef>
            </a:pPr>
            <a:r>
              <a:rPr lang="en-US" altLang="en-US" sz="5400" b="1" dirty="0">
                <a:solidFill>
                  <a:srgbClr val="000000"/>
                </a:solidFill>
                <a:latin typeface="+mj-lt"/>
                <a:ea typeface="One Little Font" panose="00000500000000000000"/>
                <a:cs typeface="One Little Font" panose="00000500000000000000"/>
                <a:sym typeface="One Little Font" panose="00000500000000000000"/>
              </a:rPr>
              <a:t>Difficulty in Generating Sales and Inventory Reports</a:t>
            </a:r>
            <a:endParaRPr lang="en-US" alt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152400" y="959485"/>
            <a:ext cx="17265015" cy="7011035"/>
          </a:xfrm>
          <a:prstGeom prst="rect">
            <a:avLst/>
          </a:prstGeom>
        </p:spPr>
        <p:txBody>
          <a:bodyPr wrap="square" lIns="0" tIns="0" rIns="0" bIns="0" rtlCol="0" anchor="t">
            <a:noAutofit/>
          </a:bodyPr>
          <a:lstStyle/>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 bakery currently prepares reports manually by collecting records from different sources.</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This process is time-consuming and may lead to incomplete or inaccurate reports.</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endParaRPr lang="en-PH"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Delayed report generation affects management’s ability to make quick and informed business decisions.</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Inaccurate reports may also impact financial monitoring, inventory planning, and sales analysis.</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By implementing the proposed system, the bakery can generate accurate sales and inventory reports faster and more efficiently.</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2268151" y="902979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txBody>
          <a:bodyPr/>
          <a:p>
            <a:endParaRPr lang="en-US"/>
          </a:p>
        </p:txBody>
      </p:sp>
      <p:sp>
        <p:nvSpPr>
          <p:cNvPr id="8" name="TextBox 8"/>
          <p:cNvSpPr txBox="1"/>
          <p:nvPr/>
        </p:nvSpPr>
        <p:spPr>
          <a:xfrm>
            <a:off x="16154470" y="864868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9</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228600" y="0"/>
            <a:ext cx="16438880" cy="831850"/>
          </a:xfrm>
          <a:prstGeom prst="rect">
            <a:avLst/>
          </a:prstGeom>
        </p:spPr>
        <p:txBody>
          <a:bodyPr wrap="square" lIns="0" tIns="0" rIns="0" bIns="0" rtlCol="0" anchor="t">
            <a:spAutoFit/>
          </a:bodyPr>
          <a:lstStyle/>
          <a:p>
            <a:pPr algn="just">
              <a:lnSpc>
                <a:spcPts val="6490"/>
              </a:lnSpc>
              <a:spcBef>
                <a:spcPct val="0"/>
              </a:spcBef>
            </a:pPr>
            <a:r>
              <a:rPr lang="en-US" altLang="en-US" sz="5400" b="1" dirty="0">
                <a:solidFill>
                  <a:srgbClr val="000000"/>
                </a:solidFill>
                <a:latin typeface="+mj-lt"/>
                <a:ea typeface="One Little Font" panose="00000500000000000000"/>
                <a:cs typeface="One Little Font" panose="00000500000000000000"/>
                <a:sym typeface="One Little Font" panose="00000500000000000000"/>
              </a:rPr>
              <a:t>Limited Data Organization and Security</a:t>
            </a:r>
            <a:endParaRPr lang="en-US" alt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152400" y="959485"/>
            <a:ext cx="17265015" cy="8902065"/>
          </a:xfrm>
          <a:prstGeom prst="rect">
            <a:avLst/>
          </a:prstGeom>
        </p:spPr>
        <p:txBody>
          <a:bodyPr wrap="square" lIns="0" tIns="0" rIns="0" bIns="0" rtlCol="0" anchor="t">
            <a:noAutofit/>
          </a:bodyPr>
          <a:lstStyle/>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Manual record-keeping makes it difficult for the bakery to organize and secure important business information.</a:t>
            </a:r>
            <a:r>
              <a:rPr lang="en-PH" altLang="en-US" sz="36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3600" dirty="0">
                <a:solidFill>
                  <a:srgbClr val="000000"/>
                </a:solidFill>
                <a:latin typeface="+mj-lt"/>
                <a:ea typeface="One Little Font" panose="00000500000000000000"/>
                <a:cs typeface="One Little Font" panose="00000500000000000000"/>
                <a:sym typeface="One Little Font" panose="00000500000000000000"/>
              </a:rPr>
              <a:t>Paper-based records are vulnerable to loss, damage, and unauthorized access.</a:t>
            </a:r>
            <a:r>
              <a:rPr lang="en-PH" altLang="en-US" sz="36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This may affect the reliability and accuracy of business data.</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Inconsistent data storage can also lead to duplicated records and difficulty in retrieving important information.</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Without proper security measures, sensitive sales and inventory data may be exposed to unauthorized individuals.</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r>
              <a:rPr lang="en-US" altLang="en-US" sz="3600" dirty="0">
                <a:solidFill>
                  <a:srgbClr val="000000"/>
                </a:solidFill>
                <a:latin typeface="+mj-lt"/>
                <a:ea typeface="One Little Font" panose="00000500000000000000"/>
                <a:cs typeface="One Little Font" panose="00000500000000000000"/>
                <a:sym typeface="One Little Font" panose="00000500000000000000"/>
              </a:rPr>
              <a:t>The proposed POS-based supply chain management system will improve data organization, storage, and security through a centralized computerized database system.</a:t>
            </a: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ts val="6490"/>
              </a:lnSpc>
              <a:spcBef>
                <a:spcPct val="0"/>
              </a:spcBef>
            </a:pPr>
            <a:endParaRPr lang="en-US" altLang="en-US" sz="36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2308791" y="898915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6535470" y="864868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10</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400024" y="-43055"/>
            <a:ext cx="6906201" cy="1116965"/>
          </a:xfrm>
          <a:prstGeom prst="rect">
            <a:avLst/>
          </a:prstGeom>
        </p:spPr>
        <p:txBody>
          <a:bodyPr lIns="0" tIns="0" rIns="0" bIns="0" rtlCol="0" anchor="t">
            <a:spAutoFit/>
          </a:bodyPr>
          <a:lstStyle/>
          <a:p>
            <a:pPr algn="ctr">
              <a:lnSpc>
                <a:spcPts val="8710"/>
              </a:lnSpc>
              <a:spcBef>
                <a:spcPct val="0"/>
              </a:spcBef>
            </a:pPr>
            <a:r>
              <a:rPr lang="en-US" sz="5400" b="1" dirty="0">
                <a:solidFill>
                  <a:srgbClr val="000000"/>
                </a:solidFill>
                <a:latin typeface="+mj-lt"/>
                <a:ea typeface="One Little Font" panose="00000500000000000000"/>
                <a:cs typeface="One Little Font" panose="00000500000000000000"/>
                <a:sym typeface="One Little Font" panose="00000500000000000000"/>
              </a:rPr>
              <a:t>General Objective:</a:t>
            </a:r>
            <a:endParaRPr 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0" y="952500"/>
            <a:ext cx="11664978" cy="831850"/>
          </a:xfrm>
          <a:prstGeom prst="rect">
            <a:avLst/>
          </a:prstGeom>
        </p:spPr>
        <p:txBody>
          <a:bodyPr wrap="square" lIns="0" tIns="0" rIns="0" bIns="0" rtlCol="0" anchor="t">
            <a:spAutoFit/>
          </a:bodyPr>
          <a:lstStyle/>
          <a:p>
            <a:pPr algn="just">
              <a:lnSpc>
                <a:spcPts val="6490"/>
              </a:lnSpc>
              <a:spcBef>
                <a:spcPct val="0"/>
              </a:spcBef>
            </a:pPr>
            <a:endParaRPr lang="en-US" sz="463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1" name="TextBox 11"/>
          <p:cNvSpPr txBox="1"/>
          <p:nvPr/>
        </p:nvSpPr>
        <p:spPr>
          <a:xfrm>
            <a:off x="-152400" y="3314700"/>
            <a:ext cx="5977255" cy="1287780"/>
          </a:xfrm>
          <a:prstGeom prst="rect">
            <a:avLst/>
          </a:prstGeom>
        </p:spPr>
        <p:txBody>
          <a:bodyPr lIns="0" tIns="0" rIns="0" bIns="0" rtlCol="0" anchor="t">
            <a:noAutofit/>
          </a:bodyPr>
          <a:lstStyle/>
          <a:p>
            <a:pPr algn="ctr">
              <a:lnSpc>
                <a:spcPts val="8540"/>
              </a:lnSpc>
            </a:pPr>
            <a:r>
              <a:rPr lang="en-US" sz="5400" b="1" dirty="0">
                <a:solidFill>
                  <a:srgbClr val="000000"/>
                </a:solidFill>
                <a:latin typeface="+mj-lt"/>
                <a:ea typeface="One Little Font" panose="00000500000000000000"/>
                <a:cs typeface="One Little Font" panose="00000500000000000000"/>
                <a:sym typeface="One Little Font" panose="00000500000000000000"/>
              </a:rPr>
              <a:t>Specific Objective</a:t>
            </a:r>
            <a:r>
              <a:rPr lang="en-US" sz="5400" b="1"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a:t>
            </a:r>
            <a:endParaRPr lang="en-US" sz="5400" b="1"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a:p>
            <a:pPr algn="ctr">
              <a:lnSpc>
                <a:spcPts val="8540"/>
              </a:lnSpc>
              <a:spcBef>
                <a:spcPct val="0"/>
              </a:spcBef>
            </a:pPr>
            <a:endParaRPr lang="en-US" sz="5400" b="1"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2" name="TextBox 12"/>
          <p:cNvSpPr txBox="1"/>
          <p:nvPr/>
        </p:nvSpPr>
        <p:spPr>
          <a:xfrm>
            <a:off x="142875" y="4305300"/>
            <a:ext cx="18145125" cy="7027545"/>
          </a:xfrm>
          <a:prstGeom prst="rect">
            <a:avLst/>
          </a:prstGeom>
        </p:spPr>
        <p:txBody>
          <a:bodyPr wrap="square" lIns="0" tIns="0" rIns="0" bIns="0" rtlCol="0" anchor="t">
            <a:spAutoFit/>
          </a:bodyPr>
          <a:lstStyle/>
          <a:p>
            <a:pPr marL="914400" indent="-914400" algn="just">
              <a:lnSpc>
                <a:spcPts val="6850"/>
              </a:lnSpc>
              <a:buAutoNum type="arabicPeriod"/>
            </a:pPr>
            <a:r>
              <a:rPr lang="en-US" altLang="en-US" sz="4000" dirty="0">
                <a:solidFill>
                  <a:srgbClr val="000000"/>
                </a:solidFill>
                <a:ea typeface="One Little Font" panose="00000500000000000000"/>
                <a:cs typeface="+mn-lt"/>
                <a:sym typeface="One Little Font" panose="00000500000000000000"/>
              </a:rPr>
              <a:t>To automate the bakery’s sales and inventory management processes using a web-based POS system.</a:t>
            </a:r>
            <a:endParaRPr lang="en-US" altLang="en-US" sz="4000" dirty="0">
              <a:solidFill>
                <a:srgbClr val="000000"/>
              </a:solidFill>
              <a:ea typeface="One Little Font" panose="00000500000000000000"/>
              <a:cs typeface="+mn-lt"/>
              <a:sym typeface="One Little Font" panose="00000500000000000000"/>
            </a:endParaRPr>
          </a:p>
          <a:p>
            <a:pPr marL="914400" indent="-914400" algn="just">
              <a:lnSpc>
                <a:spcPts val="6850"/>
              </a:lnSpc>
              <a:buAutoNum type="arabicPeriod"/>
            </a:pPr>
            <a:r>
              <a:rPr lang="en-US" altLang="en-US" sz="4000" dirty="0">
                <a:solidFill>
                  <a:srgbClr val="000000"/>
                </a:solidFill>
                <a:ea typeface="One Little Font" panose="00000500000000000000"/>
                <a:cs typeface="+mn-lt"/>
                <a:sym typeface="One Little Font" panose="00000500000000000000"/>
              </a:rPr>
              <a:t>To monitor and track product stocks, supplies, and deliveries in real time.</a:t>
            </a:r>
            <a:endParaRPr lang="en-US" altLang="en-US" sz="4000" dirty="0">
              <a:solidFill>
                <a:srgbClr val="000000"/>
              </a:solidFill>
              <a:ea typeface="One Little Font" panose="00000500000000000000"/>
              <a:cs typeface="+mn-lt"/>
              <a:sym typeface="One Little Font" panose="00000500000000000000"/>
            </a:endParaRPr>
          </a:p>
          <a:p>
            <a:pPr marL="914400" indent="-914400" algn="just">
              <a:lnSpc>
                <a:spcPts val="6850"/>
              </a:lnSpc>
              <a:buAutoNum type="arabicPeriod"/>
            </a:pPr>
            <a:r>
              <a:rPr lang="en-US" altLang="en-US" sz="4000" dirty="0">
                <a:solidFill>
                  <a:srgbClr val="000000"/>
                </a:solidFill>
                <a:ea typeface="One Little Font" panose="00000500000000000000"/>
                <a:cs typeface="+mn-lt"/>
                <a:sym typeface="One Little Font" panose="00000500000000000000"/>
              </a:rPr>
              <a:t>To improve transaction accuracy and reduce manual recording errors.</a:t>
            </a:r>
            <a:endParaRPr lang="en-US" altLang="en-US" sz="4000" dirty="0">
              <a:solidFill>
                <a:srgbClr val="000000"/>
              </a:solidFill>
              <a:ea typeface="One Little Font" panose="00000500000000000000"/>
              <a:cs typeface="+mn-lt"/>
              <a:sym typeface="One Little Font" panose="00000500000000000000"/>
            </a:endParaRPr>
          </a:p>
          <a:p>
            <a:pPr marL="914400" indent="-914400" algn="just">
              <a:lnSpc>
                <a:spcPts val="6850"/>
              </a:lnSpc>
              <a:buAutoNum type="arabicPeriod"/>
            </a:pPr>
            <a:r>
              <a:rPr lang="en-US" altLang="en-US" sz="4000" dirty="0">
                <a:solidFill>
                  <a:srgbClr val="000000"/>
                </a:solidFill>
                <a:ea typeface="One Little Font" panose="00000500000000000000"/>
                <a:cs typeface="+mn-lt"/>
                <a:sym typeface="One Little Font" panose="00000500000000000000"/>
              </a:rPr>
              <a:t>To provide organized reports for sales, inventory, and supply chain activities.</a:t>
            </a:r>
            <a:endParaRPr lang="en-US" altLang="en-US" sz="4000" dirty="0">
              <a:solidFill>
                <a:srgbClr val="000000"/>
              </a:solidFill>
              <a:ea typeface="One Little Font" panose="00000500000000000000"/>
              <a:cs typeface="+mn-lt"/>
              <a:sym typeface="One Little Font" panose="00000500000000000000"/>
            </a:endParaRPr>
          </a:p>
          <a:p>
            <a:pPr marL="914400" indent="-914400" algn="just">
              <a:lnSpc>
                <a:spcPts val="6850"/>
              </a:lnSpc>
              <a:buAutoNum type="arabicPeriod"/>
            </a:pPr>
            <a:r>
              <a:rPr lang="en-US" altLang="en-US" sz="4000" dirty="0">
                <a:solidFill>
                  <a:srgbClr val="000000"/>
                </a:solidFill>
                <a:ea typeface="One Little Font" panose="00000500000000000000"/>
                <a:cs typeface="+mn-lt"/>
                <a:sym typeface="One Little Font" panose="00000500000000000000"/>
              </a:rPr>
              <a:t>To help managers and administrators make better business decisions through accurate and updated information.</a:t>
            </a:r>
            <a:endParaRPr lang="en-US" altLang="en-US" sz="4000" dirty="0">
              <a:solidFill>
                <a:srgbClr val="000000"/>
              </a:solidFill>
              <a:ea typeface="One Little Font" panose="00000500000000000000"/>
              <a:cs typeface="+mn-lt"/>
              <a:sym typeface="One Little Font" panose="00000500000000000000"/>
            </a:endParaRPr>
          </a:p>
          <a:p>
            <a:pPr marL="914400" indent="-914400" algn="just">
              <a:lnSpc>
                <a:spcPts val="6850"/>
              </a:lnSpc>
              <a:buAutoNum type="arabicPeriod"/>
            </a:pPr>
            <a:endParaRPr lang="en-US" altLang="en-US" sz="4000" dirty="0">
              <a:solidFill>
                <a:srgbClr val="000000"/>
              </a:solidFill>
              <a:ea typeface="One Little Font" panose="00000500000000000000"/>
              <a:cs typeface="+mn-lt"/>
              <a:sym typeface="One Little Font" panose="00000500000000000000"/>
            </a:endParaRPr>
          </a:p>
        </p:txBody>
      </p:sp>
      <p:sp>
        <p:nvSpPr>
          <p:cNvPr id="2" name="TextBox 10"/>
          <p:cNvSpPr txBox="1"/>
          <p:nvPr/>
        </p:nvSpPr>
        <p:spPr>
          <a:xfrm>
            <a:off x="0" y="952500"/>
            <a:ext cx="18056225" cy="2496820"/>
          </a:xfrm>
          <a:prstGeom prst="rect">
            <a:avLst/>
          </a:prstGeom>
        </p:spPr>
        <p:txBody>
          <a:bodyPr wrap="square" lIns="0" tIns="0" rIns="0" bIns="0" rtlCol="0" anchor="t">
            <a:spAutoFit/>
          </a:bodyPr>
          <a:p>
            <a:pPr algn="just">
              <a:lnSpc>
                <a:spcPts val="6490"/>
              </a:lnSpc>
              <a:spcBef>
                <a:spcPct val="0"/>
              </a:spcBef>
            </a:pP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 main purpose of Batch Flow: A POS-Based Supply Chain Management System is to help bakeries manage sales, inventory, suppliers, and transactions efficiently through a web-based platform.</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10800000">
            <a:off x="-152401" y="-456710"/>
            <a:ext cx="10932024" cy="10886203"/>
            <a:chOff x="0" y="-38100"/>
            <a:chExt cx="3121743" cy="2867148"/>
          </a:xfrm>
        </p:grpSpPr>
        <p:sp>
          <p:nvSpPr>
            <p:cNvPr id="4" name="Freeform 4"/>
            <p:cNvSpPr/>
            <p:nvPr/>
          </p:nvSpPr>
          <p:spPr>
            <a:xfrm>
              <a:off x="68956" y="28182"/>
              <a:ext cx="3052787" cy="2800866"/>
            </a:xfrm>
            <a:custGeom>
              <a:avLst/>
              <a:gdLst/>
              <a:ahLst/>
              <a:cxnLst/>
              <a:rect l="l" t="t" r="r" b="b"/>
              <a:pathLst>
                <a:path w="3052787" h="2800866">
                  <a:moveTo>
                    <a:pt x="0" y="0"/>
                  </a:moveTo>
                  <a:lnTo>
                    <a:pt x="3052787" y="0"/>
                  </a:lnTo>
                  <a:lnTo>
                    <a:pt x="3052787" y="2800866"/>
                  </a:lnTo>
                  <a:lnTo>
                    <a:pt x="0" y="2800866"/>
                  </a:lnTo>
                  <a:close/>
                </a:path>
              </a:pathLst>
            </a:custGeom>
            <a:solidFill>
              <a:srgbClr val="FCE38B"/>
            </a:solidFill>
          </p:spPr>
          <p:txBody>
            <a:bodyPr/>
            <a:lstStyle/>
            <a:p>
              <a:endParaRPr lang="en-PH" dirty="0"/>
            </a:p>
          </p:txBody>
        </p:sp>
        <p:sp>
          <p:nvSpPr>
            <p:cNvPr id="5" name="TextBox 5"/>
            <p:cNvSpPr txBox="1"/>
            <p:nvPr/>
          </p:nvSpPr>
          <p:spPr>
            <a:xfrm>
              <a:off x="0" y="-38100"/>
              <a:ext cx="3052786" cy="2838966"/>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2702185"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rot="5400000">
            <a:off x="6084740" y="3700992"/>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11</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533402" y="-49208"/>
            <a:ext cx="8159888" cy="1123950"/>
          </a:xfrm>
          <a:prstGeom prst="rect">
            <a:avLst/>
          </a:prstGeom>
        </p:spPr>
        <p:txBody>
          <a:bodyPr wrap="square" lIns="0" tIns="0" rIns="0" bIns="0" rtlCol="0" anchor="t">
            <a:spAutoFit/>
          </a:bodyPr>
          <a:lstStyle/>
          <a:p>
            <a:pPr algn="ctr">
              <a:lnSpc>
                <a:spcPts val="8765"/>
              </a:lnSpc>
              <a:spcBef>
                <a:spcPct val="0"/>
              </a:spcBef>
            </a:pPr>
            <a:r>
              <a:rPr lang="en-US" sz="6000" b="1" dirty="0">
                <a:solidFill>
                  <a:srgbClr val="000000"/>
                </a:solidFill>
                <a:latin typeface="+mj-lt"/>
                <a:ea typeface="One Little Font" panose="00000500000000000000"/>
                <a:cs typeface="One Little Font" panose="00000500000000000000"/>
                <a:sym typeface="One Little Font" panose="00000500000000000000"/>
              </a:rPr>
              <a:t>Scope and Limitations</a:t>
            </a:r>
            <a:r>
              <a:rPr lang="en-US" sz="6000" b="1"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a:t>
            </a:r>
            <a:endParaRPr lang="en-US" sz="6000" b="1"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extBox 11"/>
          <p:cNvSpPr txBox="1"/>
          <p:nvPr/>
        </p:nvSpPr>
        <p:spPr>
          <a:xfrm>
            <a:off x="0" y="876300"/>
            <a:ext cx="18044160" cy="3805555"/>
          </a:xfrm>
          <a:prstGeom prst="rect">
            <a:avLst/>
          </a:prstGeom>
        </p:spPr>
        <p:txBody>
          <a:bodyPr wrap="square" lIns="0" tIns="0" rIns="0" bIns="0" rtlCol="0" anchor="t">
            <a:spAutoFit/>
          </a:bodyPr>
          <a:lstStyle/>
          <a:p>
            <a:pPr algn="just">
              <a:lnSpc>
                <a:spcPts val="5935"/>
              </a:lnSpc>
              <a:spcBef>
                <a:spcPct val="0"/>
              </a:spcBef>
            </a:pPr>
            <a:r>
              <a:rPr lang="en-US" sz="4240" dirty="0">
                <a:solidFill>
                  <a:srgbClr val="000000"/>
                </a:solidFill>
                <a:latin typeface="+mj-lt"/>
                <a:ea typeface="One Little Font" panose="00000500000000000000"/>
                <a:cs typeface="One Little Font" panose="00000500000000000000"/>
                <a:sym typeface="One Little Font" panose="00000500000000000000"/>
              </a:rPr>
              <a:t>It is designed for bakery businesses to manage sales transactions, inventory, and supply chain operations efficiently. The system includes features such as point-of-sale transactions, inventory monitoring, supplier and delivery tracking, and report generation for sales and stock management. It is intended to help bakery staff and administrators improve operational efficiency, accuracy, and record management.</a:t>
            </a:r>
            <a:endParaRPr lang="en-US" sz="424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2" name="TextBox 12"/>
          <p:cNvSpPr txBox="1"/>
          <p:nvPr/>
        </p:nvSpPr>
        <p:spPr>
          <a:xfrm>
            <a:off x="0" y="4601210"/>
            <a:ext cx="11125200" cy="1082675"/>
          </a:xfrm>
          <a:prstGeom prst="rect">
            <a:avLst/>
          </a:prstGeom>
        </p:spPr>
        <p:txBody>
          <a:bodyPr wrap="square" lIns="0" tIns="0" rIns="0" bIns="0" rtlCol="0" anchor="t">
            <a:noAutofit/>
          </a:bodyPr>
          <a:lstStyle/>
          <a:p>
            <a:pPr algn="l">
              <a:lnSpc>
                <a:spcPts val="7115"/>
              </a:lnSpc>
              <a:spcBef>
                <a:spcPct val="0"/>
              </a:spcBef>
            </a:pPr>
            <a:r>
              <a:rPr lang="en-PH" altLang="en-US" sz="5080" dirty="0">
                <a:solidFill>
                  <a:srgbClr val="000000"/>
                </a:solidFill>
                <a:latin typeface="+mj-lt"/>
                <a:ea typeface="One Little Font" panose="00000500000000000000"/>
                <a:cs typeface="One Little Font" panose="00000500000000000000"/>
                <a:sym typeface="One Little Font" panose="00000500000000000000"/>
              </a:rPr>
              <a:t>L</a:t>
            </a:r>
            <a:r>
              <a:rPr lang="en-US" sz="5080" dirty="0">
                <a:solidFill>
                  <a:srgbClr val="000000"/>
                </a:solidFill>
                <a:latin typeface="+mj-lt"/>
                <a:ea typeface="One Little Font" panose="00000500000000000000"/>
                <a:cs typeface="One Little Font" panose="00000500000000000000"/>
                <a:sym typeface="One Little Font" panose="00000500000000000000"/>
              </a:rPr>
              <a:t>imitations</a:t>
            </a:r>
            <a:r>
              <a:rPr lang="en-PH" altLang="en-US" sz="5080" dirty="0">
                <a:solidFill>
                  <a:srgbClr val="000000"/>
                </a:solidFill>
                <a:latin typeface="+mj-lt"/>
                <a:ea typeface="One Little Font" panose="00000500000000000000"/>
                <a:cs typeface="One Little Font" panose="00000500000000000000"/>
                <a:sym typeface="One Little Font" panose="00000500000000000000"/>
              </a:rPr>
              <a:t>:</a:t>
            </a:r>
            <a:endParaRPr lang="en-PH" altLang="en-US" sz="508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3" name="TextBox 13"/>
          <p:cNvSpPr txBox="1"/>
          <p:nvPr/>
        </p:nvSpPr>
        <p:spPr>
          <a:xfrm>
            <a:off x="52705" y="5620385"/>
            <a:ext cx="15875000" cy="3830320"/>
          </a:xfrm>
          <a:prstGeom prst="rect">
            <a:avLst/>
          </a:prstGeom>
        </p:spPr>
        <p:txBody>
          <a:bodyPr wrap="square" lIns="0" tIns="0" rIns="0" bIns="0" rtlCol="0" anchor="t">
            <a:noAutofit/>
          </a:bodyPr>
          <a:lstStyle/>
          <a:p>
            <a:pPr algn="l">
              <a:lnSpc>
                <a:spcPts val="5155"/>
              </a:lnSpc>
              <a:spcBef>
                <a:spcPct val="0"/>
              </a:spcBef>
            </a:pPr>
            <a:r>
              <a:rPr lang="en-US" altLang="en-US" sz="3685" dirty="0">
                <a:solidFill>
                  <a:srgbClr val="000000"/>
                </a:solidFill>
                <a:ea typeface="One Little Font" panose="00000500000000000000"/>
                <a:cs typeface="+mn-lt"/>
                <a:sym typeface="One Little Font" panose="00000500000000000000"/>
              </a:rPr>
              <a:t>•	Limited only to bakery-related operations. </a:t>
            </a:r>
            <a:endParaRPr lang="en-US" altLang="en-US" sz="3685" dirty="0">
              <a:solidFill>
                <a:srgbClr val="000000"/>
              </a:solidFill>
              <a:ea typeface="One Little Font" panose="00000500000000000000"/>
              <a:cs typeface="+mn-lt"/>
              <a:sym typeface="One Little Font" panose="00000500000000000000"/>
            </a:endParaRPr>
          </a:p>
          <a:p>
            <a:pPr algn="l">
              <a:lnSpc>
                <a:spcPts val="5155"/>
              </a:lnSpc>
              <a:spcBef>
                <a:spcPct val="0"/>
              </a:spcBef>
            </a:pPr>
            <a:r>
              <a:rPr lang="en-US" altLang="en-US" sz="3685" dirty="0">
                <a:solidFill>
                  <a:srgbClr val="000000"/>
                </a:solidFill>
                <a:ea typeface="One Little Font" panose="00000500000000000000"/>
                <a:cs typeface="+mn-lt"/>
                <a:sym typeface="One Little Font" panose="00000500000000000000"/>
              </a:rPr>
              <a:t> </a:t>
            </a:r>
            <a:endParaRPr lang="en-US" altLang="en-US" sz="3685" dirty="0">
              <a:solidFill>
                <a:srgbClr val="000000"/>
              </a:solidFill>
              <a:ea typeface="One Little Font" panose="00000500000000000000"/>
              <a:cs typeface="+mn-lt"/>
              <a:sym typeface="One Little Font" panose="00000500000000000000"/>
            </a:endParaRPr>
          </a:p>
          <a:p>
            <a:pPr algn="l">
              <a:lnSpc>
                <a:spcPts val="5155"/>
              </a:lnSpc>
              <a:spcBef>
                <a:spcPct val="0"/>
              </a:spcBef>
            </a:pPr>
            <a:r>
              <a:rPr lang="en-US" altLang="en-US" sz="3685" dirty="0">
                <a:solidFill>
                  <a:srgbClr val="000000"/>
                </a:solidFill>
                <a:ea typeface="One Little Font" panose="00000500000000000000"/>
                <a:cs typeface="+mn-lt"/>
                <a:sym typeface="One Little Font" panose="00000500000000000000"/>
              </a:rPr>
              <a:t>•	Requires an internet connection.</a:t>
            </a:r>
            <a:endParaRPr lang="en-US" altLang="en-US" sz="3685" dirty="0">
              <a:solidFill>
                <a:srgbClr val="000000"/>
              </a:solidFill>
              <a:ea typeface="One Little Font" panose="00000500000000000000"/>
              <a:cs typeface="+mn-lt"/>
              <a:sym typeface="One Little Font" panose="00000500000000000000"/>
            </a:endParaRPr>
          </a:p>
          <a:p>
            <a:pPr algn="l">
              <a:lnSpc>
                <a:spcPts val="5155"/>
              </a:lnSpc>
              <a:spcBef>
                <a:spcPct val="0"/>
              </a:spcBef>
            </a:pPr>
            <a:r>
              <a:rPr lang="en-US" altLang="en-US" sz="3685" dirty="0">
                <a:solidFill>
                  <a:srgbClr val="000000"/>
                </a:solidFill>
                <a:ea typeface="One Little Font" panose="00000500000000000000"/>
                <a:cs typeface="+mn-lt"/>
                <a:sym typeface="One Little Font" panose="00000500000000000000"/>
              </a:rPr>
              <a:t> </a:t>
            </a:r>
            <a:endParaRPr lang="en-US" altLang="en-US" sz="3685" dirty="0">
              <a:solidFill>
                <a:srgbClr val="000000"/>
              </a:solidFill>
              <a:ea typeface="One Little Font" panose="00000500000000000000"/>
              <a:cs typeface="+mn-lt"/>
              <a:sym typeface="One Little Font" panose="00000500000000000000"/>
            </a:endParaRPr>
          </a:p>
          <a:p>
            <a:pPr algn="l">
              <a:lnSpc>
                <a:spcPts val="5155"/>
              </a:lnSpc>
              <a:spcBef>
                <a:spcPct val="0"/>
              </a:spcBef>
            </a:pPr>
            <a:r>
              <a:rPr lang="en-US" altLang="en-US" sz="3685" dirty="0">
                <a:solidFill>
                  <a:srgbClr val="000000"/>
                </a:solidFill>
                <a:ea typeface="One Little Font" panose="00000500000000000000"/>
                <a:cs typeface="+mn-lt"/>
                <a:sym typeface="One Little Font" panose="00000500000000000000"/>
              </a:rPr>
              <a:t>•	No online payment integration.</a:t>
            </a:r>
            <a:endParaRPr lang="en-US" altLang="en-US" sz="3685" dirty="0">
              <a:solidFill>
                <a:srgbClr val="000000"/>
              </a:solidFill>
              <a:ea typeface="One Little Font" panose="00000500000000000000"/>
              <a:cs typeface="+mn-lt"/>
              <a:sym typeface="One Little Font" panose="00000500000000000000"/>
            </a:endParaRPr>
          </a:p>
          <a:p>
            <a:pPr algn="l">
              <a:lnSpc>
                <a:spcPts val="5155"/>
              </a:lnSpc>
              <a:spcBef>
                <a:spcPct val="0"/>
              </a:spcBef>
            </a:pPr>
            <a:r>
              <a:rPr lang="en-US" sz="3685"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 </a:t>
            </a:r>
            <a:endParaRPr lang="en-US" sz="3685"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a:p>
            <a:pPr algn="ctr">
              <a:lnSpc>
                <a:spcPts val="5155"/>
              </a:lnSpc>
              <a:spcBef>
                <a:spcPct val="0"/>
              </a:spcBef>
            </a:pPr>
            <a:endParaRPr lang="en-US" sz="3685"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6646450"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2026211" y="3369433"/>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12</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6" name="Freeform 6"/>
          <p:cNvSpPr/>
          <p:nvPr/>
        </p:nvSpPr>
        <p:spPr>
          <a:xfrm>
            <a:off x="-430102" y="9029693"/>
            <a:ext cx="6399786" cy="1753828"/>
          </a:xfrm>
          <a:custGeom>
            <a:avLst/>
            <a:gdLst/>
            <a:ahLst/>
            <a:cxnLst/>
            <a:rect l="l" t="t" r="r" b="b"/>
            <a:pathLst>
              <a:path w="6399786" h="1753828">
                <a:moveTo>
                  <a:pt x="0" y="0"/>
                </a:moveTo>
                <a:lnTo>
                  <a:pt x="6399786" y="0"/>
                </a:lnTo>
                <a:lnTo>
                  <a:pt x="6399786" y="1753828"/>
                </a:lnTo>
                <a:lnTo>
                  <a:pt x="0" y="17538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flipH="1">
            <a:off x="5918530" y="9029693"/>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flipH="1">
            <a:off x="12308791" y="8989155"/>
            <a:ext cx="6399786" cy="1753828"/>
          </a:xfrm>
          <a:custGeom>
            <a:avLst/>
            <a:gdLst/>
            <a:ahLst/>
            <a:cxnLst/>
            <a:rect l="l" t="t" r="r" b="b"/>
            <a:pathLst>
              <a:path w="6399786" h="1753828">
                <a:moveTo>
                  <a:pt x="6399786" y="0"/>
                </a:moveTo>
                <a:lnTo>
                  <a:pt x="0" y="0"/>
                </a:lnTo>
                <a:lnTo>
                  <a:pt x="0" y="1753828"/>
                </a:lnTo>
                <a:lnTo>
                  <a:pt x="6399786" y="1753828"/>
                </a:lnTo>
                <a:lnTo>
                  <a:pt x="6399786"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 y="-123825"/>
            <a:ext cx="9940471" cy="1250950"/>
          </a:xfrm>
          <a:prstGeom prst="rect">
            <a:avLst/>
          </a:prstGeom>
        </p:spPr>
        <p:txBody>
          <a:bodyPr wrap="square" lIns="0" tIns="0" rIns="0" bIns="0" rtlCol="0" anchor="t">
            <a:spAutoFit/>
          </a:bodyPr>
          <a:lstStyle/>
          <a:p>
            <a:pPr algn="l">
              <a:lnSpc>
                <a:spcPts val="9755"/>
              </a:lnSpc>
              <a:spcBef>
                <a:spcPct val="0"/>
              </a:spcBef>
            </a:pPr>
            <a:r>
              <a:rPr lang="en-US" sz="5400" b="1" dirty="0">
                <a:solidFill>
                  <a:srgbClr val="000000"/>
                </a:solidFill>
                <a:latin typeface="+mj-lt"/>
                <a:ea typeface="One Little Font" panose="00000500000000000000"/>
                <a:cs typeface="One Little Font" panose="00000500000000000000"/>
                <a:sym typeface="One Little Font" panose="00000500000000000000"/>
              </a:rPr>
              <a:t>Significance of the Study</a:t>
            </a:r>
            <a:r>
              <a:rPr lang="en-US" sz="5400" b="1"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a:t>
            </a:r>
            <a:endParaRPr lang="en-US" sz="5400" b="1"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151130" y="1132840"/>
            <a:ext cx="17802225" cy="7602220"/>
          </a:xfrm>
          <a:prstGeom prst="rect">
            <a:avLst/>
          </a:prstGeom>
        </p:spPr>
        <p:txBody>
          <a:bodyPr wrap="square" lIns="0" tIns="0" rIns="0" bIns="0" rtlCol="0" anchor="t">
            <a:spAutoFit/>
          </a:bodyPr>
          <a:lstStyle/>
          <a:p>
            <a:pPr algn="just">
              <a:lnSpc>
                <a:spcPct val="100000"/>
              </a:lnSpc>
              <a:spcBef>
                <a:spcPct val="0"/>
              </a:spcBef>
            </a:pPr>
            <a:r>
              <a:rPr lang="en-US" altLang="en-US" sz="3800" dirty="0">
                <a:solidFill>
                  <a:srgbClr val="000000"/>
                </a:solidFill>
                <a:latin typeface="+mj-lt"/>
                <a:ea typeface="One Little Font" panose="00000500000000000000"/>
                <a:cs typeface="One Little Font" panose="00000500000000000000"/>
                <a:sym typeface="One Little Font" panose="00000500000000000000"/>
              </a:rPr>
              <a:t>The proposed system, Batch Flow: A POS-Based Supply Chain Management System, is important because it improves the efficiency, accuracy, and management of bakery operations.</a:t>
            </a:r>
            <a:endParaRPr lang="en-US" altLang="en-US" sz="38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b="1" dirty="0">
                <a:solidFill>
                  <a:srgbClr val="000000"/>
                </a:solidFill>
                <a:latin typeface="+mj-lt"/>
                <a:ea typeface="One Little Font" panose="00000500000000000000"/>
                <a:cs typeface="One Little Font" panose="00000500000000000000"/>
                <a:sym typeface="One Little Font" panose="00000500000000000000"/>
              </a:rPr>
              <a:t>Bakery Owners and Management</a:t>
            </a:r>
            <a:endParaRPr lang="en-US" altLang="en-US" sz="3800" b="1"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dirty="0">
                <a:solidFill>
                  <a:srgbClr val="000000"/>
                </a:solidFill>
                <a:latin typeface="+mj-lt"/>
                <a:ea typeface="One Little Font" panose="00000500000000000000"/>
                <a:cs typeface="One Little Font" panose="00000500000000000000"/>
                <a:sym typeface="One Little Font" panose="00000500000000000000"/>
              </a:rPr>
              <a:t>Bakery owners and managers will benefit from accurate sales and inventory monitoring.</a:t>
            </a:r>
            <a:endParaRPr lang="en-US" altLang="en-US" sz="38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b="1" dirty="0">
                <a:solidFill>
                  <a:srgbClr val="000000"/>
                </a:solidFill>
                <a:latin typeface="+mj-lt"/>
                <a:ea typeface="One Little Font" panose="00000500000000000000"/>
                <a:cs typeface="One Little Font" panose="00000500000000000000"/>
                <a:sym typeface="One Little Font" panose="00000500000000000000"/>
              </a:rPr>
              <a:t>Employees and Cashiers</a:t>
            </a:r>
            <a:endParaRPr lang="en-US" altLang="en-US" sz="3800" b="1"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dirty="0">
                <a:solidFill>
                  <a:srgbClr val="000000"/>
                </a:solidFill>
                <a:latin typeface="+mj-lt"/>
                <a:ea typeface="One Little Font" panose="00000500000000000000"/>
                <a:cs typeface="One Little Font" panose="00000500000000000000"/>
                <a:sym typeface="One Little Font" panose="00000500000000000000"/>
              </a:rPr>
              <a:t>Employees and cashiers will benefit from faster and more organized transaction processing.</a:t>
            </a:r>
            <a:endParaRPr lang="en-US" altLang="en-US" sz="38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b="1" dirty="0">
                <a:solidFill>
                  <a:srgbClr val="000000"/>
                </a:solidFill>
                <a:latin typeface="+mj-lt"/>
                <a:ea typeface="One Little Font" panose="00000500000000000000"/>
                <a:cs typeface="One Little Font" panose="00000500000000000000"/>
                <a:sym typeface="One Little Font" panose="00000500000000000000"/>
              </a:rPr>
              <a:t>Customers</a:t>
            </a:r>
            <a:endParaRPr lang="en-US" altLang="en-US" sz="3800" b="1"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dirty="0">
                <a:solidFill>
                  <a:srgbClr val="000000"/>
                </a:solidFill>
                <a:latin typeface="+mj-lt"/>
                <a:ea typeface="One Little Font" panose="00000500000000000000"/>
                <a:cs typeface="One Little Font" panose="00000500000000000000"/>
                <a:sym typeface="One Little Font" panose="00000500000000000000"/>
              </a:rPr>
              <a:t>Customers will benefit from faster and more accurate service.</a:t>
            </a:r>
            <a:endParaRPr lang="en-US" altLang="en-US" sz="38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b="1" dirty="0">
                <a:solidFill>
                  <a:srgbClr val="000000"/>
                </a:solidFill>
                <a:latin typeface="+mj-lt"/>
                <a:ea typeface="One Little Font" panose="00000500000000000000"/>
                <a:cs typeface="One Little Font" panose="00000500000000000000"/>
                <a:sym typeface="One Little Font" panose="00000500000000000000"/>
              </a:rPr>
              <a:t>Future Researchers and Students</a:t>
            </a:r>
            <a:endParaRPr lang="en-US" altLang="en-US" sz="3800" b="1"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r>
              <a:rPr lang="en-US" altLang="en-US" sz="3800" dirty="0">
                <a:solidFill>
                  <a:srgbClr val="000000"/>
                </a:solidFill>
                <a:latin typeface="+mj-lt"/>
                <a:ea typeface="One Little Font" panose="00000500000000000000"/>
                <a:cs typeface="One Little Font" panose="00000500000000000000"/>
                <a:sym typeface="One Little Font" panose="00000500000000000000"/>
              </a:rPr>
              <a:t>Future researchers and students may use this study as a reference for similar POS and supply chain management systems.</a:t>
            </a:r>
            <a:endParaRPr lang="en-US" altLang="en-US" sz="38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endParaRPr lang="en-US" altLang="en-US" sz="38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5722104" y="6233758"/>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548630" y="7942071"/>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13</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5" name="Freeform 5"/>
          <p:cNvSpPr/>
          <p:nvPr/>
        </p:nvSpPr>
        <p:spPr>
          <a:xfrm flipH="1" flipV="1">
            <a:off x="9022252" y="-713142"/>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2026211" y="3661494"/>
            <a:ext cx="4052422" cy="2763015"/>
          </a:xfrm>
          <a:custGeom>
            <a:avLst/>
            <a:gdLst/>
            <a:ahLst/>
            <a:cxnLst/>
            <a:rect l="l" t="t" r="r" b="b"/>
            <a:pathLst>
              <a:path w="4052422" h="2763015">
                <a:moveTo>
                  <a:pt x="4052422" y="0"/>
                </a:moveTo>
                <a:lnTo>
                  <a:pt x="0" y="0"/>
                </a:lnTo>
                <a:lnTo>
                  <a:pt x="0" y="2763014"/>
                </a:lnTo>
                <a:lnTo>
                  <a:pt x="4052422" y="2763014"/>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0" y="-121888"/>
            <a:ext cx="4876800" cy="1253490"/>
          </a:xfrm>
          <a:prstGeom prst="rect">
            <a:avLst/>
          </a:prstGeom>
        </p:spPr>
        <p:txBody>
          <a:bodyPr wrap="square" lIns="0" tIns="0" rIns="0" bIns="0" rtlCol="0" anchor="t">
            <a:spAutoFit/>
          </a:bodyPr>
          <a:lstStyle/>
          <a:p>
            <a:pPr algn="l">
              <a:lnSpc>
                <a:spcPts val="9775"/>
              </a:lnSpc>
              <a:spcBef>
                <a:spcPct val="0"/>
              </a:spcBef>
            </a:pPr>
            <a:r>
              <a:rPr lang="en-US" sz="5400" b="1" dirty="0">
                <a:solidFill>
                  <a:srgbClr val="000000"/>
                </a:solidFill>
                <a:latin typeface="+mj-lt"/>
                <a:ea typeface="One Little Font" panose="00000500000000000000"/>
                <a:cs typeface="One Little Font" panose="00000500000000000000"/>
                <a:sym typeface="One Little Font" panose="00000500000000000000"/>
              </a:rPr>
              <a:t>Target Users:</a:t>
            </a:r>
            <a:endParaRPr lang="en-US" sz="5400" b="1"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8" name="TextBox 8"/>
          <p:cNvSpPr txBox="1"/>
          <p:nvPr/>
        </p:nvSpPr>
        <p:spPr>
          <a:xfrm>
            <a:off x="78105" y="1132840"/>
            <a:ext cx="17835245" cy="8150225"/>
          </a:xfrm>
          <a:prstGeom prst="rect">
            <a:avLst/>
          </a:prstGeom>
        </p:spPr>
        <p:txBody>
          <a:bodyPr wrap="square" lIns="0" tIns="0" rIns="0" bIns="0" rtlCol="0" anchor="t">
            <a:noAutofit/>
          </a:bodyPr>
          <a:lstStyle/>
          <a:p>
            <a:pPr marL="571500" indent="-571500" algn="just">
              <a:lnSpc>
                <a:spcPct val="100000"/>
              </a:lnSpc>
              <a:spcBef>
                <a:spcPct val="0"/>
              </a:spcBef>
              <a:buFont typeface="Arial" panose="020B0604020202020204" pitchFamily="34" charset="0"/>
              <a:buChar char="•"/>
            </a:pPr>
            <a:r>
              <a:rPr lang="en-US" altLang="en-US" sz="4000" b="1" dirty="0">
                <a:solidFill>
                  <a:srgbClr val="000000"/>
                </a:solidFill>
                <a:latin typeface="+mj-lt"/>
                <a:ea typeface="One Little Font" panose="00000500000000000000"/>
                <a:cs typeface="One Little Font" panose="00000500000000000000"/>
                <a:sym typeface="One Little Font" panose="00000500000000000000"/>
              </a:rPr>
              <a:t>Admin</a:t>
            </a:r>
            <a:r>
              <a:rPr lang="en-PH" altLang="en-US" sz="4000" b="1" dirty="0">
                <a:solidFill>
                  <a:srgbClr val="000000"/>
                </a:solidFill>
                <a:latin typeface="+mj-lt"/>
                <a:ea typeface="One Little Font" panose="00000500000000000000"/>
                <a:cs typeface="One Little Font" panose="00000500000000000000"/>
                <a:sym typeface="One Little Font" panose="00000500000000000000"/>
              </a:rPr>
              <a:t> </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Through the system, the admin can oversee bakery operations using one centralized platform.</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marL="571500" indent="-571500" algn="just">
              <a:lnSpc>
                <a:spcPct val="100000"/>
              </a:lnSpc>
              <a:spcBef>
                <a:spcPct val="0"/>
              </a:spcBef>
              <a:buFont typeface="Arial" panose="020B0604020202020204" pitchFamily="34" charset="0"/>
              <a:buChar char="•"/>
            </a:pPr>
            <a:r>
              <a:rPr lang="en-US" altLang="en-US" sz="4000" b="1" dirty="0">
                <a:solidFill>
                  <a:srgbClr val="000000"/>
                </a:solidFill>
                <a:latin typeface="+mj-lt"/>
                <a:ea typeface="One Little Font" panose="00000500000000000000"/>
                <a:cs typeface="One Little Font" panose="00000500000000000000"/>
                <a:sym typeface="One Little Font" panose="00000500000000000000"/>
              </a:rPr>
              <a:t>Cashier</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 cashier uses the Point-of-Sale (POS) feature to process customer transactions.</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marL="571500" indent="-571500" algn="just">
              <a:lnSpc>
                <a:spcPct val="100000"/>
              </a:lnSpc>
              <a:spcBef>
                <a:spcPct val="0"/>
              </a:spcBef>
              <a:buFont typeface="Arial" panose="020B0604020202020204" pitchFamily="34" charset="0"/>
              <a:buChar char="•"/>
            </a:pPr>
            <a:r>
              <a:rPr lang="en-US" altLang="en-US" sz="4000" b="1" dirty="0">
                <a:solidFill>
                  <a:srgbClr val="000000"/>
                </a:solidFill>
                <a:latin typeface="+mj-lt"/>
                <a:ea typeface="One Little Font" panose="00000500000000000000"/>
                <a:cs typeface="One Little Font" panose="00000500000000000000"/>
                <a:sym typeface="One Little Font" panose="00000500000000000000"/>
              </a:rPr>
              <a:t>Manager</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They use the system to review sales reports, inventory status, product demand, and employee performance.</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marL="571500" indent="-571500" algn="just">
              <a:lnSpc>
                <a:spcPct val="100000"/>
              </a:lnSpc>
              <a:spcBef>
                <a:spcPct val="0"/>
              </a:spcBef>
              <a:buFont typeface="Arial" panose="020B0604020202020204" pitchFamily="34" charset="0"/>
              <a:buChar char="•"/>
            </a:pPr>
            <a:r>
              <a:rPr lang="en-US" altLang="en-US" sz="4000" b="1" dirty="0">
                <a:solidFill>
                  <a:srgbClr val="000000"/>
                </a:solidFill>
                <a:latin typeface="+mj-lt"/>
                <a:ea typeface="One Little Font" panose="00000500000000000000"/>
                <a:cs typeface="One Little Font" panose="00000500000000000000"/>
                <a:sym typeface="One Little Font" panose="00000500000000000000"/>
              </a:rPr>
              <a:t>Supplier</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 system improves communication and supports timely restocking of ingredients and materials.</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marL="571500" indent="-571500" algn="just">
              <a:lnSpc>
                <a:spcPct val="100000"/>
              </a:lnSpc>
              <a:spcBef>
                <a:spcPct val="0"/>
              </a:spcBef>
              <a:buFont typeface="Arial" panose="020B0604020202020204" pitchFamily="34" charset="0"/>
              <a:buChar char="•"/>
            </a:pPr>
            <a:r>
              <a:rPr lang="en-US" altLang="en-US" sz="4000" b="1" dirty="0">
                <a:solidFill>
                  <a:srgbClr val="000000"/>
                </a:solidFill>
                <a:latin typeface="+mj-lt"/>
                <a:ea typeface="One Little Font" panose="00000500000000000000"/>
                <a:cs typeface="One Little Font" panose="00000500000000000000"/>
                <a:sym typeface="One Little Font" panose="00000500000000000000"/>
              </a:rPr>
              <a:t>Customer</a:t>
            </a:r>
            <a:r>
              <a:rPr lang="en-PH" altLang="en-US" sz="4000" dirty="0">
                <a:solidFill>
                  <a:srgbClr val="000000"/>
                </a:solidFill>
                <a:latin typeface="+mj-lt"/>
                <a:ea typeface="One Little Font" panose="00000500000000000000"/>
                <a:cs typeface="One Little Font" panose="00000500000000000000"/>
                <a:sym typeface="One Little Font" panose="00000500000000000000"/>
              </a:rPr>
              <a:t> - </a:t>
            </a:r>
            <a:r>
              <a:rPr lang="en-US" altLang="en-US" sz="4000" dirty="0">
                <a:solidFill>
                  <a:srgbClr val="000000"/>
                </a:solidFill>
                <a:latin typeface="+mj-lt"/>
                <a:ea typeface="One Little Font" panose="00000500000000000000"/>
                <a:cs typeface="One Little Font" panose="00000500000000000000"/>
                <a:sym typeface="One Little Font" panose="00000500000000000000"/>
              </a:rPr>
              <a:t>The system helps reduce waiting time, improve service quality, and maintain product availability.</a:t>
            </a: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a:p>
            <a:pPr algn="just">
              <a:lnSpc>
                <a:spcPct val="100000"/>
              </a:lnSpc>
              <a:spcBef>
                <a:spcPct val="0"/>
              </a:spcBef>
            </a:pPr>
            <a:endParaRPr lang="en-US" altLang="en-US" sz="4000" dirty="0">
              <a:solidFill>
                <a:srgbClr val="000000"/>
              </a:solidFill>
              <a:latin typeface="+mj-lt"/>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flipH="1">
            <a:off x="6185101" y="3673189"/>
            <a:ext cx="10527535" cy="2885016"/>
          </a:xfrm>
          <a:custGeom>
            <a:avLst/>
            <a:gdLst/>
            <a:ahLst/>
            <a:cxnLst/>
            <a:rect l="l" t="t" r="r" b="b"/>
            <a:pathLst>
              <a:path w="10527535" h="2885016">
                <a:moveTo>
                  <a:pt x="10527535" y="0"/>
                </a:moveTo>
                <a:lnTo>
                  <a:pt x="0" y="0"/>
                </a:lnTo>
                <a:lnTo>
                  <a:pt x="0" y="2885016"/>
                </a:lnTo>
                <a:lnTo>
                  <a:pt x="10527535" y="2885016"/>
                </a:lnTo>
                <a:lnTo>
                  <a:pt x="10527535"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327891"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997511"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09</a:t>
            </a:r>
            <a:endPar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9" name="TextBox 9"/>
          <p:cNvSpPr txBox="1"/>
          <p:nvPr/>
        </p:nvSpPr>
        <p:spPr>
          <a:xfrm>
            <a:off x="-262183" y="-133350"/>
            <a:ext cx="7024475" cy="1183466"/>
          </a:xfrm>
          <a:prstGeom prst="rect">
            <a:avLst/>
          </a:prstGeom>
        </p:spPr>
        <p:txBody>
          <a:bodyPr lIns="0" tIns="0" rIns="0" bIns="0" rtlCol="0" anchor="t">
            <a:spAutoFit/>
          </a:bodyPr>
          <a:lstStyle/>
          <a:p>
            <a:pPr algn="ctr">
              <a:lnSpc>
                <a:spcPts val="9645"/>
              </a:lnSpc>
              <a:spcBef>
                <a:spcPct val="0"/>
              </a:spcBef>
            </a:pPr>
            <a:r>
              <a:rPr lang="en-US" sz="6890" dirty="0">
                <a:solidFill>
                  <a:srgbClr val="000000"/>
                </a:solidFill>
                <a:latin typeface="+mj-lt"/>
                <a:ea typeface="One Little Font" panose="00000500000000000000"/>
                <a:cs typeface="One Little Font" panose="00000500000000000000"/>
                <a:sym typeface="One Little Font" panose="00000500000000000000"/>
              </a:rPr>
              <a:t>System Features:</a:t>
            </a:r>
            <a:endParaRPr lang="en-US" sz="689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0" name="TextBox 10"/>
          <p:cNvSpPr txBox="1"/>
          <p:nvPr/>
        </p:nvSpPr>
        <p:spPr>
          <a:xfrm>
            <a:off x="372020" y="1140273"/>
            <a:ext cx="7294961" cy="711000"/>
          </a:xfrm>
          <a:prstGeom prst="rect">
            <a:avLst/>
          </a:prstGeom>
        </p:spPr>
        <p:txBody>
          <a:bodyPr lIns="0" tIns="0" rIns="0" bIns="0" rtlCol="0" anchor="t">
            <a:spAutoFit/>
          </a:bodyPr>
          <a:lstStyle/>
          <a:p>
            <a:pPr algn="ctr">
              <a:lnSpc>
                <a:spcPts val="5830"/>
              </a:lnSpc>
              <a:spcBef>
                <a:spcPct val="0"/>
              </a:spcBef>
            </a:pPr>
            <a:r>
              <a:rPr lang="en-US" sz="4165" dirty="0">
                <a:solidFill>
                  <a:srgbClr val="000000"/>
                </a:solidFill>
                <a:latin typeface="+mj-lt"/>
                <a:ea typeface="One Little Font" panose="00000500000000000000"/>
                <a:cs typeface="One Little Font" panose="00000500000000000000"/>
                <a:sym typeface="One Little Font" panose="00000500000000000000"/>
              </a:rPr>
              <a:t>Point-of-Sale (POS) Management</a:t>
            </a:r>
            <a:endParaRPr lang="en-US" sz="416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1" name="TextBox 11"/>
          <p:cNvSpPr txBox="1"/>
          <p:nvPr/>
        </p:nvSpPr>
        <p:spPr>
          <a:xfrm>
            <a:off x="393419" y="2592583"/>
            <a:ext cx="4727089" cy="711053"/>
          </a:xfrm>
          <a:prstGeom prst="rect">
            <a:avLst/>
          </a:prstGeom>
        </p:spPr>
        <p:txBody>
          <a:bodyPr lIns="0" tIns="0" rIns="0" bIns="0" rtlCol="0" anchor="t">
            <a:spAutoFit/>
          </a:bodyPr>
          <a:lstStyle/>
          <a:p>
            <a:pPr algn="ctr">
              <a:lnSpc>
                <a:spcPts val="5830"/>
              </a:lnSpc>
              <a:spcBef>
                <a:spcPct val="0"/>
              </a:spcBef>
            </a:pPr>
            <a:r>
              <a:rPr lang="en-US" sz="4165" dirty="0">
                <a:solidFill>
                  <a:srgbClr val="000000"/>
                </a:solidFill>
                <a:latin typeface="+mj-lt"/>
                <a:ea typeface="One Little Font" panose="00000500000000000000"/>
                <a:cs typeface="One Little Font" panose="00000500000000000000"/>
                <a:sym typeface="One Little Font" panose="00000500000000000000"/>
              </a:rPr>
              <a:t>Supply Chain Tracking </a:t>
            </a:r>
            <a:endParaRPr lang="en-US" sz="416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2" name="TextBox 12"/>
          <p:cNvSpPr txBox="1"/>
          <p:nvPr/>
        </p:nvSpPr>
        <p:spPr>
          <a:xfrm>
            <a:off x="54793" y="1840368"/>
            <a:ext cx="5733592" cy="714115"/>
          </a:xfrm>
          <a:prstGeom prst="rect">
            <a:avLst/>
          </a:prstGeom>
        </p:spPr>
        <p:txBody>
          <a:bodyPr lIns="0" tIns="0" rIns="0" bIns="0" rtlCol="0" anchor="t">
            <a:spAutoFit/>
          </a:bodyPr>
          <a:lstStyle/>
          <a:p>
            <a:pPr algn="ctr">
              <a:lnSpc>
                <a:spcPts val="5860"/>
              </a:lnSpc>
              <a:spcBef>
                <a:spcPct val="0"/>
              </a:spcBef>
            </a:pPr>
            <a:r>
              <a:rPr lang="en-US" sz="4185" dirty="0">
                <a:solidFill>
                  <a:srgbClr val="000000"/>
                </a:solidFill>
                <a:latin typeface="+mj-lt"/>
                <a:ea typeface="One Little Font" panose="00000500000000000000"/>
                <a:cs typeface="One Little Font" panose="00000500000000000000"/>
                <a:sym typeface="One Little Font" panose="00000500000000000000"/>
              </a:rPr>
              <a:t>Inventory Management</a:t>
            </a:r>
            <a:endParaRPr lang="en-US" sz="418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3" name="TextBox 13"/>
          <p:cNvSpPr txBox="1"/>
          <p:nvPr/>
        </p:nvSpPr>
        <p:spPr>
          <a:xfrm>
            <a:off x="-609599" y="3341736"/>
            <a:ext cx="5304242" cy="698909"/>
          </a:xfrm>
          <a:prstGeom prst="rect">
            <a:avLst/>
          </a:prstGeom>
        </p:spPr>
        <p:txBody>
          <a:bodyPr wrap="square" lIns="0" tIns="0" rIns="0" bIns="0" rtlCol="0" anchor="t">
            <a:spAutoFit/>
          </a:bodyPr>
          <a:lstStyle/>
          <a:p>
            <a:pPr algn="ctr">
              <a:lnSpc>
                <a:spcPts val="5835"/>
              </a:lnSpc>
              <a:spcBef>
                <a:spcPct val="0"/>
              </a:spcBef>
            </a:pPr>
            <a:r>
              <a:rPr lang="en-US" sz="4165" dirty="0">
                <a:solidFill>
                  <a:srgbClr val="000000"/>
                </a:solidFill>
                <a:latin typeface="+mj-lt"/>
                <a:ea typeface="One Little Font" panose="00000500000000000000"/>
                <a:cs typeface="One Little Font" panose="00000500000000000000"/>
                <a:sym typeface="One Little Font" panose="00000500000000000000"/>
              </a:rPr>
              <a:t>Sales Reporting</a:t>
            </a:r>
            <a:endParaRPr lang="en-US" sz="416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4" name="TextBox 14"/>
          <p:cNvSpPr txBox="1"/>
          <p:nvPr/>
        </p:nvSpPr>
        <p:spPr>
          <a:xfrm>
            <a:off x="-762000" y="4091100"/>
            <a:ext cx="6172199" cy="698846"/>
          </a:xfrm>
          <a:prstGeom prst="rect">
            <a:avLst/>
          </a:prstGeom>
        </p:spPr>
        <p:txBody>
          <a:bodyPr wrap="square" lIns="0" tIns="0" rIns="0" bIns="0" rtlCol="0" anchor="t">
            <a:spAutoFit/>
          </a:bodyPr>
          <a:lstStyle/>
          <a:p>
            <a:pPr algn="ctr">
              <a:lnSpc>
                <a:spcPts val="5830"/>
              </a:lnSpc>
              <a:spcBef>
                <a:spcPct val="0"/>
              </a:spcBef>
            </a:pPr>
            <a:r>
              <a:rPr lang="en-US" sz="4165" dirty="0">
                <a:solidFill>
                  <a:srgbClr val="000000"/>
                </a:solidFill>
                <a:latin typeface="+mj-lt"/>
                <a:ea typeface="One Little Font" panose="00000500000000000000"/>
                <a:cs typeface="One Little Font" panose="00000500000000000000"/>
                <a:sym typeface="One Little Font" panose="00000500000000000000"/>
              </a:rPr>
              <a:t>User Management</a:t>
            </a:r>
            <a:endParaRPr lang="en-US" sz="4165"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5" name="TextBox 15"/>
          <p:cNvSpPr txBox="1"/>
          <p:nvPr/>
        </p:nvSpPr>
        <p:spPr>
          <a:xfrm>
            <a:off x="372020" y="4833014"/>
            <a:ext cx="4748488" cy="699038"/>
          </a:xfrm>
          <a:prstGeom prst="rect">
            <a:avLst/>
          </a:prstGeom>
        </p:spPr>
        <p:txBody>
          <a:bodyPr lIns="0" tIns="0" rIns="0" bIns="0" rtlCol="0" anchor="t">
            <a:spAutoFit/>
          </a:bodyPr>
          <a:lstStyle/>
          <a:p>
            <a:pPr algn="ctr">
              <a:lnSpc>
                <a:spcPts val="5840"/>
              </a:lnSpc>
              <a:spcBef>
                <a:spcPct val="0"/>
              </a:spcBef>
            </a:pPr>
            <a:r>
              <a:rPr lang="en-US" sz="4170" dirty="0">
                <a:solidFill>
                  <a:srgbClr val="000000"/>
                </a:solidFill>
                <a:latin typeface="+mj-lt"/>
                <a:ea typeface="One Little Font" panose="00000500000000000000"/>
                <a:cs typeface="One Little Font" panose="00000500000000000000"/>
                <a:sym typeface="One Little Font" panose="00000500000000000000"/>
              </a:rPr>
              <a:t>Product Management </a:t>
            </a:r>
            <a:endParaRPr lang="en-US" sz="417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6" name="TextBox 16"/>
          <p:cNvSpPr txBox="1"/>
          <p:nvPr/>
        </p:nvSpPr>
        <p:spPr>
          <a:xfrm>
            <a:off x="393419" y="5583058"/>
            <a:ext cx="4301223" cy="711763"/>
          </a:xfrm>
          <a:prstGeom prst="rect">
            <a:avLst/>
          </a:prstGeom>
        </p:spPr>
        <p:txBody>
          <a:bodyPr lIns="0" tIns="0" rIns="0" bIns="0" rtlCol="0" anchor="t">
            <a:spAutoFit/>
          </a:bodyPr>
          <a:lstStyle/>
          <a:p>
            <a:pPr algn="ctr">
              <a:lnSpc>
                <a:spcPts val="5840"/>
              </a:lnSpc>
              <a:spcBef>
                <a:spcPct val="0"/>
              </a:spcBef>
            </a:pPr>
            <a:r>
              <a:rPr lang="en-US" sz="4170" dirty="0">
                <a:solidFill>
                  <a:srgbClr val="000000"/>
                </a:solidFill>
                <a:latin typeface="+mj-lt"/>
                <a:ea typeface="One Little Font" panose="00000500000000000000"/>
                <a:cs typeface="One Little Font" panose="00000500000000000000"/>
                <a:sym typeface="One Little Font" panose="00000500000000000000"/>
              </a:rPr>
              <a:t>Order Management </a:t>
            </a:r>
            <a:endParaRPr lang="en-US" sz="417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7" name="TextBox 17"/>
          <p:cNvSpPr txBox="1"/>
          <p:nvPr/>
        </p:nvSpPr>
        <p:spPr>
          <a:xfrm>
            <a:off x="297839" y="6332921"/>
            <a:ext cx="2757071" cy="712398"/>
          </a:xfrm>
          <a:prstGeom prst="rect">
            <a:avLst/>
          </a:prstGeom>
        </p:spPr>
        <p:txBody>
          <a:bodyPr lIns="0" tIns="0" rIns="0" bIns="0" rtlCol="0" anchor="t">
            <a:spAutoFit/>
          </a:bodyPr>
          <a:lstStyle/>
          <a:p>
            <a:pPr algn="ctr">
              <a:lnSpc>
                <a:spcPts val="5885"/>
              </a:lnSpc>
              <a:spcBef>
                <a:spcPct val="0"/>
              </a:spcBef>
            </a:pPr>
            <a:r>
              <a:rPr lang="en-US" sz="4200" dirty="0">
                <a:solidFill>
                  <a:srgbClr val="000000"/>
                </a:solidFill>
                <a:latin typeface="+mj-lt"/>
                <a:ea typeface="One Little Font" panose="00000500000000000000"/>
                <a:cs typeface="One Little Font" panose="00000500000000000000"/>
                <a:sym typeface="One Little Font" panose="00000500000000000000"/>
              </a:rPr>
              <a:t>Stock Alerts</a:t>
            </a:r>
            <a:endParaRPr lang="en-US" sz="420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8" name="TextBox 18"/>
          <p:cNvSpPr txBox="1"/>
          <p:nvPr/>
        </p:nvSpPr>
        <p:spPr>
          <a:xfrm>
            <a:off x="331412" y="6969119"/>
            <a:ext cx="4851102" cy="695442"/>
          </a:xfrm>
          <a:prstGeom prst="rect">
            <a:avLst/>
          </a:prstGeom>
        </p:spPr>
        <p:txBody>
          <a:bodyPr lIns="0" tIns="0" rIns="0" bIns="0" rtlCol="0" anchor="t">
            <a:spAutoFit/>
          </a:bodyPr>
          <a:lstStyle/>
          <a:p>
            <a:pPr algn="ctr">
              <a:lnSpc>
                <a:spcPts val="5770"/>
              </a:lnSpc>
              <a:spcBef>
                <a:spcPct val="0"/>
              </a:spcBef>
            </a:pPr>
            <a:r>
              <a:rPr lang="en-US" sz="4120" dirty="0">
                <a:solidFill>
                  <a:srgbClr val="000000"/>
                </a:solidFill>
                <a:latin typeface="+mj-lt"/>
                <a:ea typeface="One Little Font" panose="00000500000000000000"/>
                <a:cs typeface="One Little Font" panose="00000500000000000000"/>
                <a:sym typeface="One Little Font" panose="00000500000000000000"/>
              </a:rPr>
              <a:t>Dashboard Monitoring </a:t>
            </a:r>
            <a:endParaRPr lang="en-US" sz="4120" dirty="0">
              <a:solidFill>
                <a:srgbClr val="000000"/>
              </a:solidFill>
              <a:latin typeface="+mj-lt"/>
              <a:ea typeface="One Little Font" panose="00000500000000000000"/>
              <a:cs typeface="One Little Font" panose="00000500000000000000"/>
              <a:sym typeface="One Little Font" panose="00000500000000000000"/>
            </a:endParaRPr>
          </a:p>
        </p:txBody>
      </p:sp>
      <p:sp>
        <p:nvSpPr>
          <p:cNvPr id="19" name="TextBox 19"/>
          <p:cNvSpPr txBox="1"/>
          <p:nvPr/>
        </p:nvSpPr>
        <p:spPr>
          <a:xfrm>
            <a:off x="287696" y="7702661"/>
            <a:ext cx="5733591" cy="709810"/>
          </a:xfrm>
          <a:prstGeom prst="rect">
            <a:avLst/>
          </a:prstGeom>
        </p:spPr>
        <p:txBody>
          <a:bodyPr wrap="square" lIns="0" tIns="0" rIns="0" bIns="0" rtlCol="0" anchor="t">
            <a:spAutoFit/>
          </a:bodyPr>
          <a:lstStyle/>
          <a:p>
            <a:pPr algn="ctr">
              <a:lnSpc>
                <a:spcPts val="5885"/>
              </a:lnSpc>
              <a:spcBef>
                <a:spcPct val="0"/>
              </a:spcBef>
            </a:pPr>
            <a:r>
              <a:rPr lang="en-US" sz="4205" dirty="0">
                <a:solidFill>
                  <a:srgbClr val="000000"/>
                </a:solidFill>
                <a:latin typeface="+mj-lt"/>
                <a:ea typeface="One Little Font" panose="00000500000000000000"/>
                <a:cs typeface="One Little Font" panose="00000500000000000000"/>
                <a:sym typeface="One Little Font" panose="00000500000000000000"/>
              </a:rPr>
              <a:t>Data Security and Backup</a:t>
            </a:r>
            <a:endParaRPr lang="en-US" sz="4205" dirty="0">
              <a:solidFill>
                <a:srgbClr val="000000"/>
              </a:solidFill>
              <a:latin typeface="+mj-lt"/>
              <a:ea typeface="One Little Font" panose="00000500000000000000"/>
              <a:cs typeface="One Little Font" panose="00000500000000000000"/>
              <a:sym typeface="One Little Font" panose="00000500000000000000"/>
            </a:endParaRPr>
          </a:p>
        </p:txBody>
      </p:sp>
      <p:grpSp>
        <p:nvGrpSpPr>
          <p:cNvPr id="20" name="Group 20"/>
          <p:cNvGrpSpPr/>
          <p:nvPr/>
        </p:nvGrpSpPr>
        <p:grpSpPr>
          <a:xfrm>
            <a:off x="12480291" y="-195139"/>
            <a:ext cx="7367721" cy="10982077"/>
            <a:chOff x="0" y="0"/>
            <a:chExt cx="1940470" cy="2892399"/>
          </a:xfrm>
        </p:grpSpPr>
        <p:sp>
          <p:nvSpPr>
            <p:cNvPr id="21" name="Freeform 21"/>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22" name="TextBox 22"/>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23" name="TextBox 23"/>
          <p:cNvSpPr txBox="1"/>
          <p:nvPr/>
        </p:nvSpPr>
        <p:spPr>
          <a:xfrm>
            <a:off x="16164151" y="8687919"/>
            <a:ext cx="1095149" cy="720725"/>
          </a:xfrm>
          <a:prstGeom prst="rect">
            <a:avLst/>
          </a:prstGeom>
        </p:spPr>
        <p:txBody>
          <a:bodyPr lIns="0" tIns="0" rIns="0" bIns="0" rtlCol="0" anchor="t">
            <a:spAutoFit/>
          </a:bodyPr>
          <a:lstStyle/>
          <a:p>
            <a:pPr algn="ctr">
              <a:lnSpc>
                <a:spcPts val="2810"/>
              </a:lnSpc>
              <a:spcBef>
                <a:spcPct val="0"/>
              </a:spcBef>
            </a:pPr>
            <a:r>
              <a:rPr lang="en-US" sz="278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2780">
                <a:solidFill>
                  <a:srgbClr val="000000"/>
                </a:solidFill>
                <a:latin typeface="One Little Font" panose="00000500000000000000"/>
                <a:ea typeface="One Little Font" panose="00000500000000000000"/>
                <a:cs typeface="One Little Font" panose="00000500000000000000"/>
                <a:sym typeface="One Little Font" panose="00000500000000000000"/>
              </a:rPr>
              <a:t>14</a:t>
            </a:r>
            <a:endParaRPr lang="en-PH" altLang="en-US" sz="278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flipH="1">
            <a:off x="6185101" y="3673189"/>
            <a:ext cx="10527535" cy="2885016"/>
          </a:xfrm>
          <a:custGeom>
            <a:avLst/>
            <a:gdLst/>
            <a:ahLst/>
            <a:cxnLst/>
            <a:rect l="l" t="t" r="r" b="b"/>
            <a:pathLst>
              <a:path w="10527535" h="2885016">
                <a:moveTo>
                  <a:pt x="10527535" y="0"/>
                </a:moveTo>
                <a:lnTo>
                  <a:pt x="0" y="0"/>
                </a:lnTo>
                <a:lnTo>
                  <a:pt x="0" y="2885016"/>
                </a:lnTo>
                <a:lnTo>
                  <a:pt x="10527535" y="2885016"/>
                </a:lnTo>
                <a:lnTo>
                  <a:pt x="10527535"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PH"/>
          </a:p>
        </p:txBody>
      </p:sp>
      <p:grpSp>
        <p:nvGrpSpPr>
          <p:cNvPr id="3" name="Group 3"/>
          <p:cNvGrpSpPr/>
          <p:nvPr/>
        </p:nvGrpSpPr>
        <p:grpSpPr>
          <a:xfrm>
            <a:off x="12327891"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997511"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14364"/>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09</a:t>
            </a:r>
            <a:endPar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grpSp>
        <p:nvGrpSpPr>
          <p:cNvPr id="9" name="Group 9"/>
          <p:cNvGrpSpPr/>
          <p:nvPr/>
        </p:nvGrpSpPr>
        <p:grpSpPr>
          <a:xfrm>
            <a:off x="12480291" y="-195139"/>
            <a:ext cx="7367721" cy="10982077"/>
            <a:chOff x="0" y="0"/>
            <a:chExt cx="1940470" cy="2892399"/>
          </a:xfrm>
        </p:grpSpPr>
        <p:sp>
          <p:nvSpPr>
            <p:cNvPr id="10" name="Freeform 10"/>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11" name="TextBox 11"/>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14" name="TextBox 14"/>
          <p:cNvSpPr txBox="1"/>
          <p:nvPr/>
        </p:nvSpPr>
        <p:spPr>
          <a:xfrm>
            <a:off x="16011751" y="8875443"/>
            <a:ext cx="1247549" cy="384810"/>
          </a:xfrm>
          <a:prstGeom prst="rect">
            <a:avLst/>
          </a:prstGeom>
        </p:spPr>
        <p:txBody>
          <a:bodyPr lIns="0" tIns="0" rIns="0" bIns="0" rtlCol="0" anchor="t">
            <a:spAutoFit/>
          </a:bodyPr>
          <a:lstStyle/>
          <a:p>
            <a:pPr algn="ctr">
              <a:lnSpc>
                <a:spcPts val="3005"/>
              </a:lnSpc>
              <a:spcBef>
                <a:spcPct val="0"/>
              </a:spcBef>
            </a:pPr>
            <a:r>
              <a:rPr lang="en-US" sz="2975">
                <a:solidFill>
                  <a:srgbClr val="000000"/>
                </a:solidFill>
                <a:latin typeface="One Little Font" panose="00000500000000000000"/>
                <a:ea typeface="One Little Font" panose="00000500000000000000"/>
                <a:cs typeface="One Little Font" panose="00000500000000000000"/>
                <a:sym typeface="One Little Font" panose="00000500000000000000"/>
              </a:rPr>
              <a:t>PAGE 1</a:t>
            </a:r>
            <a:r>
              <a:rPr lang="en-PH" altLang="en-US" sz="2975">
                <a:solidFill>
                  <a:srgbClr val="000000"/>
                </a:solidFill>
                <a:latin typeface="One Little Font" panose="00000500000000000000"/>
                <a:ea typeface="One Little Font" panose="00000500000000000000"/>
                <a:cs typeface="One Little Font" panose="00000500000000000000"/>
                <a:sym typeface="One Little Font" panose="00000500000000000000"/>
              </a:rPr>
              <a:t>5</a:t>
            </a:r>
            <a:endParaRPr lang="en-PH" altLang="en-US" sz="2975">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5" name="Title 14"/>
          <p:cNvSpPr>
            <a:spLocks noGrp="1"/>
          </p:cNvSpPr>
          <p:nvPr>
            <p:ph type="title"/>
          </p:nvPr>
        </p:nvSpPr>
        <p:spPr>
          <a:xfrm>
            <a:off x="457200" y="274637"/>
            <a:ext cx="19050000" cy="8448405"/>
          </a:xfrm>
        </p:spPr>
        <p:txBody>
          <a:bodyPr>
            <a:normAutofit/>
          </a:bodyPr>
          <a:lstStyle/>
          <a:p>
            <a:r>
              <a:rPr lang="en-PH" sz="8000" dirty="0"/>
              <a:t>CHAPTER 2</a:t>
            </a:r>
            <a:br>
              <a:rPr lang="en-PH" sz="8000" dirty="0"/>
            </a:br>
            <a:br>
              <a:rPr lang="en-PH" sz="8000" dirty="0"/>
            </a:br>
            <a:r>
              <a:rPr lang="en-PH" sz="8000" dirty="0"/>
              <a:t>RELATED LITERATURE AND SYSTEMS</a:t>
            </a:r>
            <a:endParaRPr lang="en-PH" sz="8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1</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6</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8" name="Title 7"/>
          <p:cNvSpPr>
            <a:spLocks noGrp="1"/>
          </p:cNvSpPr>
          <p:nvPr>
            <p:ph type="title"/>
          </p:nvPr>
        </p:nvSpPr>
        <p:spPr>
          <a:xfrm>
            <a:off x="-3581400" y="-670265"/>
            <a:ext cx="12268200" cy="2087903"/>
          </a:xfrm>
        </p:spPr>
        <p:txBody>
          <a:bodyPr/>
          <a:lstStyle/>
          <a:p>
            <a:r>
              <a:rPr lang="en-PH" sz="5400" dirty="0"/>
              <a:t>Related Literature</a:t>
            </a:r>
            <a:r>
              <a:rPr lang="en-PH" dirty="0"/>
              <a:t>:</a:t>
            </a:r>
            <a:endParaRPr lang="en-PH" dirty="0"/>
          </a:p>
        </p:txBody>
      </p:sp>
      <p:sp>
        <p:nvSpPr>
          <p:cNvPr id="9" name="Content Placeholder 8"/>
          <p:cNvSpPr>
            <a:spLocks noGrp="1"/>
          </p:cNvSpPr>
          <p:nvPr>
            <p:ph idx="1"/>
          </p:nvPr>
        </p:nvSpPr>
        <p:spPr>
          <a:xfrm>
            <a:off x="304800" y="876300"/>
            <a:ext cx="17735550" cy="8413750"/>
          </a:xfrm>
        </p:spPr>
        <p:txBody>
          <a:bodyPr>
            <a:noAutofit/>
          </a:bodyPr>
          <a:lstStyle/>
          <a:p>
            <a:pPr marL="0" indent="0">
              <a:buNone/>
            </a:pPr>
            <a:r>
              <a:rPr lang="en-US" altLang="en-US" sz="4000" dirty="0">
                <a:latin typeface="+mj-lt"/>
              </a:rPr>
              <a:t>According to Duarte et al. (2021), effective production and inventory policies are important in bakery businesses to improve resource allocation and product quality.</a:t>
            </a:r>
            <a:endParaRPr lang="en-US" altLang="en-US" sz="4000" dirty="0">
              <a:latin typeface="+mj-lt"/>
            </a:endParaRPr>
          </a:p>
          <a:p>
            <a:pPr marL="0" indent="0">
              <a:buNone/>
            </a:pPr>
            <a:r>
              <a:rPr lang="en-US" altLang="en-US" sz="4000" dirty="0">
                <a:latin typeface="+mj-lt"/>
              </a:rPr>
              <a:t>Xu, Huang, Weng, and Do (2021) stated that integrated food supply chains in the baking industry improve customer service and operational efficiency through online ordering systems.</a:t>
            </a:r>
            <a:endParaRPr lang="en-US" altLang="en-US" sz="4000" dirty="0">
              <a:latin typeface="+mj-lt"/>
            </a:endParaRPr>
          </a:p>
          <a:p>
            <a:pPr marL="0" indent="0">
              <a:buNone/>
            </a:pPr>
            <a:r>
              <a:rPr lang="en-US" altLang="en-US" sz="4000" dirty="0">
                <a:latin typeface="+mj-lt"/>
              </a:rPr>
              <a:t>According to Bolarinwa and Fajebe (2021), inventory optimization improves bakery performance by balancing service levels, delivery lead time, and inventory turnover.</a:t>
            </a:r>
            <a:endParaRPr lang="en-US" altLang="en-US" sz="4000" dirty="0">
              <a:latin typeface="+mj-lt"/>
            </a:endParaRPr>
          </a:p>
          <a:p>
            <a:pPr marL="0" indent="0">
              <a:buNone/>
            </a:pPr>
            <a:r>
              <a:rPr lang="en-PH" sz="4000" dirty="0">
                <a:latin typeface="+mj-lt"/>
              </a:rPr>
              <a:t>Liew, C. C., &amp; </a:t>
            </a:r>
            <a:r>
              <a:rPr lang="en-PH" sz="4000" dirty="0" err="1">
                <a:latin typeface="+mj-lt"/>
              </a:rPr>
              <a:t>Alduais</a:t>
            </a:r>
            <a:r>
              <a:rPr lang="en-PH" sz="4000" dirty="0">
                <a:latin typeface="+mj-lt"/>
              </a:rPr>
              <a:t>, N. (2022) said that t</a:t>
            </a:r>
            <a:r>
              <a:rPr lang="en-US" sz="4000" dirty="0">
                <a:latin typeface="+mj-lt"/>
              </a:rPr>
              <a:t>heir study focused on developing a web-based inventory and customer management system for a retail bakery to improve the efficiency of sales, inventory tracking, and customer transactions.</a:t>
            </a:r>
            <a:endParaRPr lang="en-US" sz="4000" dirty="0">
              <a:latin typeface="+mj-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678505" y="874395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1</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7</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8" name="Title 7"/>
          <p:cNvSpPr>
            <a:spLocks noGrp="1"/>
          </p:cNvSpPr>
          <p:nvPr>
            <p:ph type="title"/>
          </p:nvPr>
        </p:nvSpPr>
        <p:spPr>
          <a:xfrm>
            <a:off x="-4114800" y="-670265"/>
            <a:ext cx="12801600" cy="2087903"/>
          </a:xfrm>
        </p:spPr>
        <p:txBody>
          <a:bodyPr/>
          <a:lstStyle/>
          <a:p>
            <a:r>
              <a:rPr lang="en-PH" sz="5400" dirty="0"/>
              <a:t>Related Systems</a:t>
            </a:r>
            <a:r>
              <a:rPr lang="en-PH" dirty="0"/>
              <a:t>:</a:t>
            </a:r>
            <a:endParaRPr lang="en-PH" dirty="0"/>
          </a:p>
        </p:txBody>
      </p:sp>
      <p:sp>
        <p:nvSpPr>
          <p:cNvPr id="9" name="Content Placeholder 8"/>
          <p:cNvSpPr>
            <a:spLocks noGrp="1"/>
          </p:cNvSpPr>
          <p:nvPr>
            <p:ph idx="1"/>
          </p:nvPr>
        </p:nvSpPr>
        <p:spPr>
          <a:xfrm>
            <a:off x="252730" y="723900"/>
            <a:ext cx="17484725" cy="9319260"/>
          </a:xfrm>
        </p:spPr>
        <p:txBody>
          <a:bodyPr>
            <a:normAutofit fontScale="90000" lnSpcReduction="10000"/>
          </a:bodyPr>
          <a:lstStyle/>
          <a:p>
            <a:pPr marL="0" indent="0">
              <a:buNone/>
            </a:pPr>
            <a:r>
              <a:rPr lang="en-US" altLang="en-US" sz="4220" dirty="0"/>
              <a:t>This chapter presents the related systems relevant to the proposed web-based bakery management project entitled Batch Flow: A POS Based Supply Chain Management System. The reviewed systems provide insights into existing technologies and platforms used in point-of-sale operations, inventory monitoring, supply chain management, sales tracking, and customer management within bakery and food service businesses. Moreover, these systems were examined to identify their features, functionalities, strengths, and weaknesses that may contribute to the development of the proposed system.</a:t>
            </a:r>
            <a:endParaRPr lang="en-US" altLang="en-US" sz="4220" dirty="0"/>
          </a:p>
          <a:p>
            <a:pPr marL="0" indent="0">
              <a:buNone/>
            </a:pPr>
            <a:r>
              <a:rPr lang="en-PH" sz="4220" dirty="0"/>
              <a:t>Features:</a:t>
            </a:r>
            <a:endParaRPr lang="en-PH" sz="4220" dirty="0"/>
          </a:p>
          <a:p>
            <a:r>
              <a:rPr lang="en-PH" sz="4220" dirty="0"/>
              <a:t>Point-of-Sale (POS) transaction processing.</a:t>
            </a:r>
            <a:endParaRPr lang="en-PH" sz="4220" dirty="0"/>
          </a:p>
          <a:p>
            <a:r>
              <a:rPr lang="en-PH" sz="4220" dirty="0"/>
              <a:t>Inventory and menu management.</a:t>
            </a:r>
            <a:endParaRPr lang="en-PH" sz="4220" dirty="0"/>
          </a:p>
          <a:p>
            <a:r>
              <a:rPr lang="en-US" sz="4220" dirty="0"/>
              <a:t>Online ordering and delivery integration.</a:t>
            </a:r>
            <a:endParaRPr lang="en-US" sz="4220" dirty="0"/>
          </a:p>
          <a:p>
            <a:r>
              <a:rPr lang="en-PH" sz="4220" dirty="0"/>
              <a:t>Sales and analytics reporting.</a:t>
            </a:r>
            <a:endParaRPr lang="en-PH" sz="4220" dirty="0"/>
          </a:p>
          <a:p>
            <a:r>
              <a:rPr lang="en-PH" sz="4220" dirty="0"/>
              <a:t>Supplier and stock tracking.</a:t>
            </a:r>
            <a:endParaRPr lang="en-PH" sz="4220" dirty="0"/>
          </a:p>
          <a:p>
            <a:r>
              <a:rPr lang="en-US" sz="4220" dirty="0"/>
              <a:t>Kitchen display and order management system.</a:t>
            </a:r>
            <a:endParaRPr lang="en-PH" sz="4220" dirty="0"/>
          </a:p>
          <a:p>
            <a:endParaRPr lang="en-PH" sz="4000" dirty="0"/>
          </a:p>
          <a:p>
            <a:pPr marL="0" indent="0">
              <a:buNone/>
            </a:pPr>
            <a:endParaRPr lang="en-PH" sz="4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10800000">
            <a:off x="-1" y="-1"/>
            <a:ext cx="10694157" cy="10634539"/>
            <a:chOff x="0" y="0"/>
            <a:chExt cx="3052786" cy="2800866"/>
          </a:xfrm>
        </p:grpSpPr>
        <p:sp>
          <p:nvSpPr>
            <p:cNvPr id="4" name="Freeform 4"/>
            <p:cNvSpPr/>
            <p:nvPr/>
          </p:nvSpPr>
          <p:spPr>
            <a:xfrm>
              <a:off x="0" y="0"/>
              <a:ext cx="3052787" cy="2800866"/>
            </a:xfrm>
            <a:custGeom>
              <a:avLst/>
              <a:gdLst/>
              <a:ahLst/>
              <a:cxnLst/>
              <a:rect l="l" t="t" r="r" b="b"/>
              <a:pathLst>
                <a:path w="3052787" h="2800866">
                  <a:moveTo>
                    <a:pt x="0" y="0"/>
                  </a:moveTo>
                  <a:lnTo>
                    <a:pt x="3052787" y="0"/>
                  </a:lnTo>
                  <a:lnTo>
                    <a:pt x="3052787" y="2800866"/>
                  </a:lnTo>
                  <a:lnTo>
                    <a:pt x="0" y="2800866"/>
                  </a:lnTo>
                  <a:close/>
                </a:path>
              </a:pathLst>
            </a:custGeom>
            <a:solidFill>
              <a:srgbClr val="FCE38B"/>
            </a:solidFill>
          </p:spPr>
        </p:sp>
        <p:sp>
          <p:nvSpPr>
            <p:cNvPr id="5" name="TextBox 5"/>
            <p:cNvSpPr txBox="1"/>
            <p:nvPr/>
          </p:nvSpPr>
          <p:spPr>
            <a:xfrm>
              <a:off x="0" y="-38100"/>
              <a:ext cx="3052786" cy="2838966"/>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2702185"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rot="5400000">
            <a:off x="6112349" y="3728795"/>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5365835"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PAGE 1</a:t>
            </a:r>
            <a:r>
              <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rPr>
              <a:t>8</a:t>
            </a:r>
            <a:endParaRPr lang="en-PH" altLang="en-US" sz="300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0" name="Title 9"/>
          <p:cNvSpPr>
            <a:spLocks noGrp="1"/>
          </p:cNvSpPr>
          <p:nvPr>
            <p:ph type="title"/>
          </p:nvPr>
        </p:nvSpPr>
        <p:spPr>
          <a:xfrm>
            <a:off x="-1676400" y="-571500"/>
            <a:ext cx="10363200" cy="1989138"/>
          </a:xfrm>
        </p:spPr>
        <p:txBody>
          <a:bodyPr/>
          <a:lstStyle/>
          <a:p>
            <a:r>
              <a:rPr lang="en-PH" dirty="0"/>
              <a:t>Strengths and Weaknesses</a:t>
            </a:r>
            <a:endParaRPr lang="en-PH" dirty="0"/>
          </a:p>
        </p:txBody>
      </p:sp>
      <p:sp>
        <p:nvSpPr>
          <p:cNvPr id="11" name="Content Placeholder 10"/>
          <p:cNvSpPr>
            <a:spLocks noGrp="1"/>
          </p:cNvSpPr>
          <p:nvPr>
            <p:ph sz="half" idx="1"/>
          </p:nvPr>
        </p:nvSpPr>
        <p:spPr>
          <a:xfrm>
            <a:off x="319009" y="800100"/>
            <a:ext cx="8035383" cy="8000986"/>
          </a:xfrm>
        </p:spPr>
        <p:txBody>
          <a:bodyPr>
            <a:normAutofit/>
          </a:bodyPr>
          <a:lstStyle/>
          <a:p>
            <a:pPr marL="0" indent="0">
              <a:buNone/>
            </a:pPr>
            <a:r>
              <a:rPr lang="en-PH" sz="5400" dirty="0"/>
              <a:t>Strengths</a:t>
            </a:r>
            <a:endParaRPr lang="en-PH" sz="5400" dirty="0"/>
          </a:p>
          <a:p>
            <a:r>
              <a:rPr lang="en-US" sz="4000" dirty="0"/>
              <a:t>Easy-to-use restaurant and bakery management interface.</a:t>
            </a:r>
            <a:endParaRPr lang="en-US" sz="4000" dirty="0"/>
          </a:p>
          <a:p>
            <a:r>
              <a:rPr lang="en-US" sz="4000" dirty="0"/>
              <a:t>Real-time inventory and sales monitoring.</a:t>
            </a:r>
            <a:endParaRPr lang="en-US" sz="4000" dirty="0"/>
          </a:p>
          <a:p>
            <a:r>
              <a:rPr lang="en-US" sz="4000" dirty="0"/>
              <a:t>Supports online ordering and multiple payment methods.</a:t>
            </a:r>
            <a:endParaRPr lang="en-US" sz="4000" dirty="0"/>
          </a:p>
          <a:p>
            <a:r>
              <a:rPr lang="en-US" sz="4000" dirty="0"/>
              <a:t>Provides detailed reports for business analysis.</a:t>
            </a:r>
            <a:endParaRPr lang="en-US" sz="4000" dirty="0"/>
          </a:p>
          <a:p>
            <a:r>
              <a:rPr lang="en-US" sz="4000" dirty="0"/>
              <a:t>Scalable for growing food businesses and multiple branches.</a:t>
            </a:r>
            <a:endParaRPr lang="en-PH" sz="4000" dirty="0"/>
          </a:p>
          <a:p>
            <a:endParaRPr lang="en-PH" sz="3200" dirty="0"/>
          </a:p>
        </p:txBody>
      </p:sp>
      <p:sp>
        <p:nvSpPr>
          <p:cNvPr id="12" name="Content Placeholder 11"/>
          <p:cNvSpPr>
            <a:spLocks noGrp="1"/>
          </p:cNvSpPr>
          <p:nvPr>
            <p:ph sz="half" idx="2"/>
          </p:nvPr>
        </p:nvSpPr>
        <p:spPr>
          <a:xfrm>
            <a:off x="8229600" y="800100"/>
            <a:ext cx="7921985" cy="7943836"/>
          </a:xfrm>
        </p:spPr>
        <p:txBody>
          <a:bodyPr>
            <a:normAutofit/>
          </a:bodyPr>
          <a:lstStyle/>
          <a:p>
            <a:pPr marL="0" indent="0">
              <a:buNone/>
            </a:pPr>
            <a:r>
              <a:rPr lang="en-PH" sz="5400" dirty="0"/>
              <a:t>Weaknesses</a:t>
            </a:r>
            <a:endParaRPr lang="en-PH" sz="4000" dirty="0"/>
          </a:p>
          <a:p>
            <a:r>
              <a:rPr lang="en-US" sz="4000" dirty="0"/>
              <a:t>Requires stable internet connection for full functionality.</a:t>
            </a:r>
            <a:endParaRPr lang="en-US" sz="4000" dirty="0"/>
          </a:p>
          <a:p>
            <a:r>
              <a:rPr lang="en-US" sz="4000" dirty="0"/>
              <a:t>High subscription and hardware costs for small businesses.</a:t>
            </a:r>
            <a:endParaRPr lang="en-US" sz="4000" dirty="0"/>
          </a:p>
          <a:p>
            <a:r>
              <a:rPr lang="en-US" sz="4000" dirty="0"/>
              <a:t>Limited flexibility because it uses proprietary payment processing.</a:t>
            </a:r>
            <a:endParaRPr lang="en-US" sz="4000" dirty="0"/>
          </a:p>
          <a:p>
            <a:r>
              <a:rPr lang="en-US" sz="4000" dirty="0"/>
              <a:t>Some users reported customer support and system bug issues.</a:t>
            </a:r>
            <a:endParaRPr lang="en-US" sz="4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6351266" y="3673189"/>
            <a:ext cx="10527535" cy="2885016"/>
          </a:xfrm>
          <a:custGeom>
            <a:avLst/>
            <a:gdLst/>
            <a:ahLst/>
            <a:cxnLst/>
            <a:rect l="l" t="t" r="r" b="b"/>
            <a:pathLst>
              <a:path w="10527535" h="2885016">
                <a:moveTo>
                  <a:pt x="0" y="0"/>
                </a:moveTo>
                <a:lnTo>
                  <a:pt x="10527536" y="0"/>
                </a:lnTo>
                <a:lnTo>
                  <a:pt x="10527536" y="2885016"/>
                </a:lnTo>
                <a:lnTo>
                  <a:pt x="0" y="28850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94056"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4834442" y="-1099005"/>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626187" y="9253031"/>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19</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itle 10"/>
          <p:cNvSpPr>
            <a:spLocks noGrp="1"/>
          </p:cNvSpPr>
          <p:nvPr>
            <p:ph type="title"/>
          </p:nvPr>
        </p:nvSpPr>
        <p:spPr>
          <a:xfrm>
            <a:off x="457200" y="274638"/>
            <a:ext cx="18973800" cy="8469298"/>
          </a:xfrm>
        </p:spPr>
        <p:txBody>
          <a:bodyPr>
            <a:normAutofit/>
          </a:bodyPr>
          <a:lstStyle/>
          <a:p>
            <a:r>
              <a:rPr lang="en-PH" sz="8000" dirty="0"/>
              <a:t>CHAPTER 3</a:t>
            </a:r>
            <a:br>
              <a:rPr lang="en-PH" sz="8000" dirty="0"/>
            </a:br>
            <a:br>
              <a:rPr lang="en-PH" sz="8000" dirty="0"/>
            </a:br>
            <a:r>
              <a:rPr lang="en-PH" sz="8000" dirty="0"/>
              <a:t>SYSTEM ANALYSIS AND DESIGN</a:t>
            </a:r>
            <a:endParaRPr lang="en-PH" sz="8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678505" y="874395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20</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8" name="Title 7"/>
          <p:cNvSpPr>
            <a:spLocks noGrp="1"/>
          </p:cNvSpPr>
          <p:nvPr>
            <p:ph type="title"/>
          </p:nvPr>
        </p:nvSpPr>
        <p:spPr>
          <a:xfrm>
            <a:off x="-1676400" y="-670265"/>
            <a:ext cx="10363200" cy="2087903"/>
          </a:xfrm>
        </p:spPr>
        <p:txBody>
          <a:bodyPr/>
          <a:lstStyle/>
          <a:p>
            <a:r>
              <a:rPr lang="en-PH" sz="4800" dirty="0"/>
              <a:t>Development Methodology</a:t>
            </a:r>
            <a:r>
              <a:rPr lang="en-PH" dirty="0"/>
              <a:t>:</a:t>
            </a:r>
            <a:endParaRPr lang="en-PH" dirty="0"/>
          </a:p>
        </p:txBody>
      </p:sp>
      <p:sp>
        <p:nvSpPr>
          <p:cNvPr id="9" name="Content Placeholder 8"/>
          <p:cNvSpPr>
            <a:spLocks noGrp="1"/>
          </p:cNvSpPr>
          <p:nvPr>
            <p:ph idx="1"/>
          </p:nvPr>
        </p:nvSpPr>
        <p:spPr>
          <a:xfrm>
            <a:off x="0" y="723900"/>
            <a:ext cx="10820400" cy="6172200"/>
          </a:xfrm>
        </p:spPr>
        <p:txBody>
          <a:bodyPr>
            <a:normAutofit/>
          </a:bodyPr>
          <a:lstStyle/>
          <a:p>
            <a:pPr marL="0" indent="0">
              <a:buNone/>
            </a:pPr>
            <a:endParaRPr lang="en-PH" sz="4000" dirty="0"/>
          </a:p>
          <a:p>
            <a:endParaRPr lang="en-PH" sz="4000" dirty="0"/>
          </a:p>
          <a:p>
            <a:pPr marL="0" indent="0">
              <a:buNone/>
            </a:pPr>
            <a:endParaRPr lang="en-PH" sz="4000" dirty="0"/>
          </a:p>
        </p:txBody>
      </p:sp>
      <p:pic>
        <p:nvPicPr>
          <p:cNvPr id="996211613"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62400" y="952500"/>
            <a:ext cx="10396855" cy="71939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10800000">
            <a:off x="-1" y="-1"/>
            <a:ext cx="10694157" cy="10634539"/>
            <a:chOff x="0" y="0"/>
            <a:chExt cx="3052786" cy="2800866"/>
          </a:xfrm>
        </p:grpSpPr>
        <p:sp>
          <p:nvSpPr>
            <p:cNvPr id="4" name="Freeform 4"/>
            <p:cNvSpPr/>
            <p:nvPr/>
          </p:nvSpPr>
          <p:spPr>
            <a:xfrm>
              <a:off x="0" y="0"/>
              <a:ext cx="3052787" cy="2800866"/>
            </a:xfrm>
            <a:custGeom>
              <a:avLst/>
              <a:gdLst/>
              <a:ahLst/>
              <a:cxnLst/>
              <a:rect l="l" t="t" r="r" b="b"/>
              <a:pathLst>
                <a:path w="3052787" h="2800866">
                  <a:moveTo>
                    <a:pt x="0" y="0"/>
                  </a:moveTo>
                  <a:lnTo>
                    <a:pt x="3052787" y="0"/>
                  </a:lnTo>
                  <a:lnTo>
                    <a:pt x="3052787" y="2800866"/>
                  </a:lnTo>
                  <a:lnTo>
                    <a:pt x="0" y="2800866"/>
                  </a:lnTo>
                  <a:close/>
                </a:path>
              </a:pathLst>
            </a:custGeom>
            <a:solidFill>
              <a:srgbClr val="FCE38B"/>
            </a:solidFill>
          </p:spPr>
          <p:txBody>
            <a:bodyPr/>
            <a:lstStyle/>
            <a:p>
              <a:endParaRPr lang="en-PH" dirty="0"/>
            </a:p>
          </p:txBody>
        </p:sp>
        <p:sp>
          <p:nvSpPr>
            <p:cNvPr id="5" name="TextBox 5"/>
            <p:cNvSpPr txBox="1"/>
            <p:nvPr/>
          </p:nvSpPr>
          <p:spPr>
            <a:xfrm>
              <a:off x="0" y="-38100"/>
              <a:ext cx="3052786" cy="2838966"/>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2702185"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rot="5400000">
            <a:off x="6084740" y="3821259"/>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5365835"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21</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6" name="Title 15"/>
          <p:cNvSpPr>
            <a:spLocks noGrp="1"/>
          </p:cNvSpPr>
          <p:nvPr>
            <p:ph type="title"/>
          </p:nvPr>
        </p:nvSpPr>
        <p:spPr>
          <a:xfrm>
            <a:off x="-1295400" y="274638"/>
            <a:ext cx="9982200" cy="1143000"/>
          </a:xfrm>
        </p:spPr>
        <p:txBody>
          <a:bodyPr/>
          <a:lstStyle/>
          <a:p>
            <a:r>
              <a:rPr lang="en-PH" b="1" dirty="0"/>
              <a:t>Proposed System Features:</a:t>
            </a:r>
            <a:endParaRPr lang="en-PH" b="1" dirty="0"/>
          </a:p>
        </p:txBody>
      </p:sp>
      <p:sp>
        <p:nvSpPr>
          <p:cNvPr id="20" name="Text Placeholder 19"/>
          <p:cNvSpPr>
            <a:spLocks noGrp="1"/>
          </p:cNvSpPr>
          <p:nvPr>
            <p:ph sz="half" idx="1"/>
          </p:nvPr>
        </p:nvSpPr>
        <p:spPr>
          <a:xfrm>
            <a:off x="457200" y="1600200"/>
            <a:ext cx="8679815" cy="6896100"/>
          </a:xfrm>
        </p:spPr>
        <p:txBody>
          <a:bodyPr>
            <a:noAutofit/>
          </a:bodyPr>
          <a:lstStyle/>
          <a:p>
            <a:pPr marL="0" indent="0">
              <a:buNone/>
            </a:pPr>
            <a:r>
              <a:rPr lang="en-PH" sz="4000" b="1" dirty="0"/>
              <a:t>Operational Features:</a:t>
            </a:r>
            <a:endParaRPr lang="en-PH" sz="4000" b="1" dirty="0"/>
          </a:p>
          <a:p>
            <a:r>
              <a:rPr lang="en-US" altLang="en-US" sz="4000" dirty="0"/>
              <a:t>Point-of-Sale (POS) Management.</a:t>
            </a:r>
            <a:r>
              <a:rPr lang="en-PH" sz="4000" dirty="0"/>
              <a:t>Inventory and Stock Monitoring.</a:t>
            </a:r>
            <a:endParaRPr lang="en-PH" sz="4000" dirty="0"/>
          </a:p>
          <a:p>
            <a:r>
              <a:rPr lang="en-US" altLang="en-US" sz="4000" dirty="0"/>
              <a:t>Inventory Management</a:t>
            </a:r>
            <a:endParaRPr lang="en-US" altLang="en-US" sz="4000" dirty="0"/>
          </a:p>
          <a:p>
            <a:r>
              <a:rPr lang="en-US" altLang="en-US" sz="4000" dirty="0"/>
              <a:t>Supply Chain Management</a:t>
            </a:r>
            <a:endParaRPr lang="en-US" altLang="en-US" sz="4000" dirty="0"/>
          </a:p>
          <a:p>
            <a:r>
              <a:rPr lang="en-US" altLang="en-US" sz="4000" dirty="0"/>
              <a:t>Product Management</a:t>
            </a:r>
            <a:endParaRPr lang="en-US" altLang="en-US" sz="4000" dirty="0"/>
          </a:p>
          <a:p>
            <a:r>
              <a:rPr lang="en-US" altLang="en-US" sz="4000" dirty="0"/>
              <a:t>Sales Reporting and Analytics</a:t>
            </a:r>
            <a:endParaRPr lang="en-US" altLang="en-US" sz="4000" dirty="0"/>
          </a:p>
        </p:txBody>
      </p:sp>
      <p:sp>
        <p:nvSpPr>
          <p:cNvPr id="35" name="Content Placeholder 34"/>
          <p:cNvSpPr>
            <a:spLocks noGrp="1"/>
          </p:cNvSpPr>
          <p:nvPr>
            <p:ph sz="half" idx="2"/>
          </p:nvPr>
        </p:nvSpPr>
        <p:spPr>
          <a:xfrm>
            <a:off x="9137015" y="1692275"/>
            <a:ext cx="8641080" cy="6800215"/>
          </a:xfrm>
        </p:spPr>
        <p:txBody>
          <a:bodyPr>
            <a:normAutofit/>
          </a:bodyPr>
          <a:lstStyle/>
          <a:p>
            <a:pPr marL="0" indent="0">
              <a:buNone/>
            </a:pPr>
            <a:r>
              <a:rPr lang="en-PH" sz="4000" b="1" dirty="0"/>
              <a:t>MIS Features:</a:t>
            </a:r>
            <a:endParaRPr lang="en-PH" sz="4000" b="1" dirty="0"/>
          </a:p>
          <a:p>
            <a:r>
              <a:rPr lang="en-US" altLang="en-US" sz="4000" dirty="0"/>
              <a:t>Management Reporting System</a:t>
            </a:r>
            <a:endParaRPr lang="en-US" altLang="en-US" sz="4000" dirty="0"/>
          </a:p>
          <a:p>
            <a:r>
              <a:rPr lang="en-US" altLang="en-US" sz="4000" dirty="0"/>
              <a:t>Decision Support Feature</a:t>
            </a:r>
            <a:endParaRPr lang="en-US" altLang="en-US" sz="4000" dirty="0"/>
          </a:p>
          <a:p>
            <a:r>
              <a:rPr lang="en-US" altLang="en-US" sz="4000" dirty="0"/>
              <a:t>Real-Time Data Monitoring</a:t>
            </a:r>
            <a:endParaRPr lang="en-US" altLang="en-US" sz="4000" dirty="0"/>
          </a:p>
          <a:p>
            <a:r>
              <a:rPr lang="en-US" altLang="en-US" sz="4000" dirty="0"/>
              <a:t>Inventory Information System</a:t>
            </a:r>
            <a:endParaRPr lang="en-US" altLang="en-US" sz="4000" dirty="0"/>
          </a:p>
          <a:p>
            <a:r>
              <a:rPr lang="en-US" altLang="en-US" sz="4000" dirty="0"/>
              <a:t>Customer Sales Tracking</a:t>
            </a:r>
            <a:endParaRPr lang="en-US" altLang="en-US" sz="4000" dirty="0"/>
          </a:p>
          <a:p>
            <a:r>
              <a:rPr lang="en-US" altLang="en-US" sz="4000" dirty="0"/>
              <a:t>User Management and Security</a:t>
            </a:r>
            <a:endParaRPr lang="en-US" altLang="en-US" sz="4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6351266" y="3673189"/>
            <a:ext cx="10527535" cy="2885016"/>
          </a:xfrm>
          <a:custGeom>
            <a:avLst/>
            <a:gdLst/>
            <a:ahLst/>
            <a:cxnLst/>
            <a:rect l="l" t="t" r="r" b="b"/>
            <a:pathLst>
              <a:path w="10527535" h="2885016">
                <a:moveTo>
                  <a:pt x="0" y="0"/>
                </a:moveTo>
                <a:lnTo>
                  <a:pt x="10527536" y="0"/>
                </a:lnTo>
                <a:lnTo>
                  <a:pt x="10527536" y="2885016"/>
                </a:lnTo>
                <a:lnTo>
                  <a:pt x="0" y="28850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94056"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4834442" y="-1099005"/>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626187" y="9253031"/>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22</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itle 10"/>
          <p:cNvSpPr>
            <a:spLocks noGrp="1"/>
          </p:cNvSpPr>
          <p:nvPr>
            <p:ph type="title"/>
          </p:nvPr>
        </p:nvSpPr>
        <p:spPr>
          <a:xfrm>
            <a:off x="-1676400" y="-347539"/>
            <a:ext cx="10363200" cy="1765177"/>
          </a:xfrm>
        </p:spPr>
        <p:txBody>
          <a:bodyPr>
            <a:normAutofit/>
          </a:bodyPr>
          <a:lstStyle/>
          <a:p>
            <a:r>
              <a:rPr lang="en-PH" dirty="0"/>
              <a:t>System Overview Diagram:</a:t>
            </a:r>
            <a:br>
              <a:rPr lang="en-PH" dirty="0"/>
            </a:br>
            <a:r>
              <a:rPr lang="en-PH" dirty="0"/>
              <a:t>System Flowchart</a:t>
            </a:r>
            <a:endParaRPr lang="en-PH" dirty="0"/>
          </a:p>
        </p:txBody>
      </p:sp>
      <p:pic>
        <p:nvPicPr>
          <p:cNvPr id="566402933" name="Picture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973070" y="1099185"/>
            <a:ext cx="14286230" cy="71437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678505" y="874395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23</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8" name="Title 7"/>
          <p:cNvSpPr>
            <a:spLocks noGrp="1"/>
          </p:cNvSpPr>
          <p:nvPr>
            <p:ph type="title"/>
          </p:nvPr>
        </p:nvSpPr>
        <p:spPr>
          <a:xfrm>
            <a:off x="-4495800" y="-670265"/>
            <a:ext cx="13182600" cy="2087903"/>
          </a:xfrm>
        </p:spPr>
        <p:txBody>
          <a:bodyPr>
            <a:normAutofit/>
          </a:bodyPr>
          <a:lstStyle/>
          <a:p>
            <a:r>
              <a:rPr lang="en-PH" sz="4800" dirty="0"/>
              <a:t>Database Design:</a:t>
            </a:r>
            <a:endParaRPr lang="en-PH" sz="4800" dirty="0"/>
          </a:p>
        </p:txBody>
      </p:sp>
      <p:sp>
        <p:nvSpPr>
          <p:cNvPr id="9" name="Content Placeholder 8"/>
          <p:cNvSpPr>
            <a:spLocks noGrp="1"/>
          </p:cNvSpPr>
          <p:nvPr>
            <p:ph idx="1"/>
          </p:nvPr>
        </p:nvSpPr>
        <p:spPr>
          <a:xfrm>
            <a:off x="0" y="723900"/>
            <a:ext cx="10820400" cy="6172200"/>
          </a:xfrm>
        </p:spPr>
        <p:txBody>
          <a:bodyPr>
            <a:normAutofit/>
          </a:bodyPr>
          <a:lstStyle/>
          <a:p>
            <a:pPr marL="0" indent="0">
              <a:buNone/>
            </a:pPr>
            <a:endParaRPr lang="en-PH" sz="4000" dirty="0"/>
          </a:p>
          <a:p>
            <a:endParaRPr lang="en-PH" sz="4000" dirty="0"/>
          </a:p>
          <a:p>
            <a:pPr marL="0" indent="0">
              <a:buNone/>
            </a:pPr>
            <a:endParaRPr lang="en-PH" sz="4000" dirty="0"/>
          </a:p>
        </p:txBody>
      </p:sp>
      <p:pic>
        <p:nvPicPr>
          <p:cNvPr id="1169235709"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9640" y="1346200"/>
            <a:ext cx="15505430" cy="71678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10800000">
            <a:off x="-352074" y="-588361"/>
            <a:ext cx="10694157" cy="10634539"/>
            <a:chOff x="0" y="0"/>
            <a:chExt cx="3052786" cy="2800866"/>
          </a:xfrm>
        </p:grpSpPr>
        <p:sp>
          <p:nvSpPr>
            <p:cNvPr id="4" name="Freeform 4"/>
            <p:cNvSpPr/>
            <p:nvPr/>
          </p:nvSpPr>
          <p:spPr>
            <a:xfrm>
              <a:off x="0" y="0"/>
              <a:ext cx="3052787" cy="2800866"/>
            </a:xfrm>
            <a:custGeom>
              <a:avLst/>
              <a:gdLst/>
              <a:ahLst/>
              <a:cxnLst/>
              <a:rect l="l" t="t" r="r" b="b"/>
              <a:pathLst>
                <a:path w="3052787" h="2800866">
                  <a:moveTo>
                    <a:pt x="0" y="0"/>
                  </a:moveTo>
                  <a:lnTo>
                    <a:pt x="3052787" y="0"/>
                  </a:lnTo>
                  <a:lnTo>
                    <a:pt x="3052787" y="2800866"/>
                  </a:lnTo>
                  <a:lnTo>
                    <a:pt x="0" y="2800866"/>
                  </a:lnTo>
                  <a:close/>
                </a:path>
              </a:pathLst>
            </a:custGeom>
            <a:solidFill>
              <a:srgbClr val="FCE38B"/>
            </a:solidFill>
          </p:spPr>
          <p:txBody>
            <a:bodyPr/>
            <a:lstStyle/>
            <a:p>
              <a:endParaRPr lang="en-PH" dirty="0"/>
            </a:p>
          </p:txBody>
        </p:sp>
        <p:sp>
          <p:nvSpPr>
            <p:cNvPr id="5" name="TextBox 5"/>
            <p:cNvSpPr txBox="1"/>
            <p:nvPr/>
          </p:nvSpPr>
          <p:spPr>
            <a:xfrm>
              <a:off x="0" y="-38100"/>
              <a:ext cx="3052786" cy="2838966"/>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2702185"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rot="5400000">
            <a:off x="6084740" y="3821259"/>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5365835"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24</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7" name="Title 16"/>
          <p:cNvSpPr>
            <a:spLocks noGrp="1"/>
          </p:cNvSpPr>
          <p:nvPr>
            <p:ph type="title"/>
          </p:nvPr>
        </p:nvSpPr>
        <p:spPr>
          <a:xfrm>
            <a:off x="-2514600" y="-925056"/>
            <a:ext cx="11201400" cy="2342694"/>
          </a:xfrm>
        </p:spPr>
        <p:txBody>
          <a:bodyPr>
            <a:normAutofit/>
          </a:bodyPr>
          <a:lstStyle/>
          <a:p>
            <a:r>
              <a:rPr lang="en-PH" sz="4800" dirty="0"/>
              <a:t>   Functional Requirements:</a:t>
            </a:r>
            <a:endParaRPr lang="en-PH" sz="4800" dirty="0"/>
          </a:p>
        </p:txBody>
      </p:sp>
      <p:sp>
        <p:nvSpPr>
          <p:cNvPr id="18" name="Content Placeholder 17"/>
          <p:cNvSpPr>
            <a:spLocks noGrp="1"/>
          </p:cNvSpPr>
          <p:nvPr>
            <p:ph idx="1"/>
          </p:nvPr>
        </p:nvSpPr>
        <p:spPr>
          <a:xfrm>
            <a:off x="76200" y="1104900"/>
            <a:ext cx="13106400" cy="7551525"/>
          </a:xfrm>
        </p:spPr>
        <p:txBody>
          <a:bodyPr>
            <a:normAutofit lnSpcReduction="10000"/>
          </a:bodyPr>
          <a:lstStyle/>
          <a:p>
            <a:r>
              <a:rPr lang="en-US" altLang="en-US" sz="4000" dirty="0"/>
              <a:t>Secure Login and Logout</a:t>
            </a:r>
            <a:endParaRPr lang="en-US" altLang="en-US" sz="4000" dirty="0"/>
          </a:p>
          <a:p>
            <a:r>
              <a:rPr lang="en-US" altLang="en-US" sz="4000" dirty="0"/>
              <a:t>Sales Transaction Processing</a:t>
            </a:r>
            <a:endParaRPr lang="en-US" altLang="en-US" sz="4000" dirty="0"/>
          </a:p>
          <a:p>
            <a:r>
              <a:rPr lang="en-US" altLang="en-US" sz="4000" dirty="0"/>
              <a:t>Product and Price Management</a:t>
            </a:r>
            <a:endParaRPr lang="en-US" altLang="en-US" sz="4000" dirty="0"/>
          </a:p>
          <a:p>
            <a:r>
              <a:rPr lang="en-US" altLang="en-US" sz="4000" dirty="0"/>
              <a:t>Real-Time Inventory</a:t>
            </a:r>
            <a:r>
              <a:rPr lang="en-PH" altLang="en-US" sz="4000" dirty="0"/>
              <a:t> </a:t>
            </a:r>
            <a:r>
              <a:rPr lang="en-US" altLang="en-US" sz="4000" dirty="0"/>
              <a:t>Monitoring</a:t>
            </a:r>
            <a:endParaRPr lang="en-US" sz="4000" dirty="0"/>
          </a:p>
          <a:p>
            <a:r>
              <a:rPr lang="en-US" altLang="en-US" sz="4000" dirty="0"/>
              <a:t>Supplier and Delivery Tracking</a:t>
            </a:r>
            <a:endParaRPr lang="en-US" altLang="en-US" sz="4000" dirty="0"/>
          </a:p>
          <a:p>
            <a:r>
              <a:rPr lang="en-US" altLang="en-US" sz="4000" dirty="0"/>
              <a:t>Report Generation</a:t>
            </a:r>
            <a:endParaRPr lang="en-US" altLang="en-US" sz="4000" dirty="0"/>
          </a:p>
          <a:p>
            <a:r>
              <a:rPr lang="en-US" altLang="en-US" sz="4000" dirty="0"/>
              <a:t>Low Stock Alerts</a:t>
            </a:r>
            <a:endParaRPr lang="en-US" altLang="en-US" sz="4000" dirty="0"/>
          </a:p>
          <a:p>
            <a:r>
              <a:rPr lang="en-US" altLang="en-US" sz="4000" dirty="0"/>
              <a:t>Customer Transaction Records</a:t>
            </a:r>
            <a:endParaRPr lang="en-US" altLang="en-US" sz="4000" dirty="0"/>
          </a:p>
          <a:p>
            <a:r>
              <a:rPr lang="en-US" altLang="en-US" sz="4000" dirty="0"/>
              <a:t> User Account and Access   Management </a:t>
            </a:r>
            <a:endParaRPr lang="en-US" altLang="en-US" sz="4000" dirty="0"/>
          </a:p>
          <a:p>
            <a:r>
              <a:rPr lang="en-US" altLang="en-US" sz="4000" dirty="0"/>
              <a:t> Data Backup and Retrieval</a:t>
            </a:r>
            <a:endParaRPr lang="en-US" altLang="en-US" sz="4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6351266" y="3673189"/>
            <a:ext cx="10527535" cy="2885016"/>
          </a:xfrm>
          <a:custGeom>
            <a:avLst/>
            <a:gdLst/>
            <a:ahLst/>
            <a:cxnLst/>
            <a:rect l="l" t="t" r="r" b="b"/>
            <a:pathLst>
              <a:path w="10527535" h="2885016">
                <a:moveTo>
                  <a:pt x="0" y="0"/>
                </a:moveTo>
                <a:lnTo>
                  <a:pt x="10527536" y="0"/>
                </a:lnTo>
                <a:lnTo>
                  <a:pt x="10527536" y="2885016"/>
                </a:lnTo>
                <a:lnTo>
                  <a:pt x="0" y="28850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94056"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4834442" y="-1099005"/>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626187" y="9253031"/>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2</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5</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itle 10"/>
          <p:cNvSpPr>
            <a:spLocks noGrp="1"/>
          </p:cNvSpPr>
          <p:nvPr>
            <p:ph type="title"/>
          </p:nvPr>
        </p:nvSpPr>
        <p:spPr>
          <a:xfrm>
            <a:off x="-228600" y="-647657"/>
            <a:ext cx="9677400" cy="2198010"/>
          </a:xfrm>
        </p:spPr>
        <p:txBody>
          <a:bodyPr>
            <a:normAutofit/>
          </a:bodyPr>
          <a:lstStyle/>
          <a:p>
            <a:r>
              <a:rPr lang="en-PH" sz="5400" b="1" dirty="0"/>
              <a:t>Non-Functional Requirements</a:t>
            </a:r>
            <a:r>
              <a:rPr lang="en-PH" sz="4800" b="1" dirty="0"/>
              <a:t>:</a:t>
            </a:r>
            <a:endParaRPr lang="en-PH" sz="4800" b="1" dirty="0"/>
          </a:p>
        </p:txBody>
      </p:sp>
      <p:sp>
        <p:nvSpPr>
          <p:cNvPr id="10" name="Content Placeholder 9"/>
          <p:cNvSpPr>
            <a:spLocks noGrp="1"/>
          </p:cNvSpPr>
          <p:nvPr>
            <p:ph idx="1"/>
          </p:nvPr>
        </p:nvSpPr>
        <p:spPr>
          <a:xfrm>
            <a:off x="85240" y="1243666"/>
            <a:ext cx="14316559" cy="7100234"/>
          </a:xfrm>
        </p:spPr>
        <p:txBody>
          <a:bodyPr>
            <a:normAutofit/>
          </a:bodyPr>
          <a:lstStyle/>
          <a:p>
            <a:r>
              <a:rPr lang="en-PH" sz="6000" dirty="0"/>
              <a:t>Performance</a:t>
            </a:r>
            <a:endParaRPr lang="en-PH" sz="6000" dirty="0"/>
          </a:p>
          <a:p>
            <a:r>
              <a:rPr lang="en-PH" sz="6000" dirty="0"/>
              <a:t>Security </a:t>
            </a:r>
            <a:endParaRPr lang="en-PH" sz="6000" dirty="0"/>
          </a:p>
          <a:p>
            <a:r>
              <a:rPr lang="en-PH" sz="6000" dirty="0"/>
              <a:t>Reliability</a:t>
            </a:r>
            <a:endParaRPr lang="en-PH" sz="6000" dirty="0"/>
          </a:p>
          <a:p>
            <a:r>
              <a:rPr lang="en-PH" sz="6000" dirty="0"/>
              <a:t>Usability</a:t>
            </a:r>
            <a:endParaRPr lang="en-PH" sz="6000" dirty="0"/>
          </a:p>
          <a:p>
            <a:r>
              <a:rPr lang="en-PH" sz="6000" dirty="0"/>
              <a:t>Scalability</a:t>
            </a:r>
            <a:endParaRPr lang="en-PH" sz="6000" dirty="0"/>
          </a:p>
          <a:p>
            <a:r>
              <a:rPr lang="en-PH" sz="6000" dirty="0"/>
              <a:t>Compatibility</a:t>
            </a:r>
            <a:endParaRPr lang="en-PH" sz="6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678505" y="874395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2</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6</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2" name="Title 11"/>
          <p:cNvSpPr>
            <a:spLocks noGrp="1"/>
          </p:cNvSpPr>
          <p:nvPr>
            <p:ph type="title"/>
          </p:nvPr>
        </p:nvSpPr>
        <p:spPr>
          <a:xfrm>
            <a:off x="457200" y="274638"/>
            <a:ext cx="16611600" cy="8412162"/>
          </a:xfrm>
        </p:spPr>
        <p:txBody>
          <a:bodyPr>
            <a:normAutofit/>
          </a:bodyPr>
          <a:lstStyle/>
          <a:p>
            <a:r>
              <a:rPr lang="en-PH" sz="8000" dirty="0"/>
              <a:t>CHAPTER 4</a:t>
            </a:r>
            <a:br>
              <a:rPr lang="en-PH" sz="8000" dirty="0"/>
            </a:br>
            <a:br>
              <a:rPr lang="en-PH" sz="8000" dirty="0"/>
            </a:br>
            <a:r>
              <a:rPr lang="en-PH" sz="8000" dirty="0"/>
              <a:t>SYSTEM DEVELOPMENT AND TESTING</a:t>
            </a:r>
            <a:endParaRPr lang="en-PH" sz="8000" dirty="0"/>
          </a:p>
        </p:txBody>
      </p:sp>
      <p:sp>
        <p:nvSpPr>
          <p:cNvPr id="9" name="Content Placeholder 8"/>
          <p:cNvSpPr>
            <a:spLocks noGrp="1"/>
          </p:cNvSpPr>
          <p:nvPr>
            <p:ph idx="4294967295"/>
          </p:nvPr>
        </p:nvSpPr>
        <p:spPr>
          <a:xfrm>
            <a:off x="0" y="1600200"/>
            <a:ext cx="8229600" cy="4525963"/>
          </a:xfrm>
        </p:spPr>
        <p:txBody>
          <a:bodyPr>
            <a:normAutofit/>
          </a:bodyPr>
          <a:lstStyle/>
          <a:p>
            <a:endParaRPr lang="en-PH" dirty="0"/>
          </a:p>
          <a:p>
            <a:endParaRPr lang="en-PH" dirty="0"/>
          </a:p>
          <a:p>
            <a:endParaRPr lang="en-PH"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10800000">
            <a:off x="-352074" y="-588361"/>
            <a:ext cx="10694157" cy="10634539"/>
            <a:chOff x="0" y="0"/>
            <a:chExt cx="3052786" cy="2800866"/>
          </a:xfrm>
        </p:grpSpPr>
        <p:sp>
          <p:nvSpPr>
            <p:cNvPr id="4" name="Freeform 4"/>
            <p:cNvSpPr/>
            <p:nvPr/>
          </p:nvSpPr>
          <p:spPr>
            <a:xfrm>
              <a:off x="0" y="0"/>
              <a:ext cx="3052787" cy="2800866"/>
            </a:xfrm>
            <a:custGeom>
              <a:avLst/>
              <a:gdLst/>
              <a:ahLst/>
              <a:cxnLst/>
              <a:rect l="l" t="t" r="r" b="b"/>
              <a:pathLst>
                <a:path w="3052787" h="2800866">
                  <a:moveTo>
                    <a:pt x="0" y="0"/>
                  </a:moveTo>
                  <a:lnTo>
                    <a:pt x="3052787" y="0"/>
                  </a:lnTo>
                  <a:lnTo>
                    <a:pt x="3052787" y="2800866"/>
                  </a:lnTo>
                  <a:lnTo>
                    <a:pt x="0" y="2800866"/>
                  </a:lnTo>
                  <a:close/>
                </a:path>
              </a:pathLst>
            </a:custGeom>
            <a:solidFill>
              <a:srgbClr val="FCE38B"/>
            </a:solidFill>
          </p:spPr>
          <p:txBody>
            <a:bodyPr/>
            <a:lstStyle/>
            <a:p>
              <a:endParaRPr lang="en-PH" dirty="0"/>
            </a:p>
          </p:txBody>
        </p:sp>
        <p:sp>
          <p:nvSpPr>
            <p:cNvPr id="5" name="TextBox 5"/>
            <p:cNvSpPr txBox="1"/>
            <p:nvPr/>
          </p:nvSpPr>
          <p:spPr>
            <a:xfrm>
              <a:off x="0" y="-38100"/>
              <a:ext cx="3052786" cy="2838966"/>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2702185"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rot="5400000">
            <a:off x="6084740" y="3821259"/>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5365835"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2</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7</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7" name="Title 16"/>
          <p:cNvSpPr>
            <a:spLocks noGrp="1"/>
          </p:cNvSpPr>
          <p:nvPr>
            <p:ph type="title"/>
          </p:nvPr>
        </p:nvSpPr>
        <p:spPr>
          <a:xfrm>
            <a:off x="-352080" y="-925056"/>
            <a:ext cx="9038879" cy="2342694"/>
          </a:xfrm>
        </p:spPr>
        <p:txBody>
          <a:bodyPr>
            <a:normAutofit/>
          </a:bodyPr>
          <a:lstStyle/>
          <a:p>
            <a:r>
              <a:rPr lang="en-PH" dirty="0"/>
              <a:t>Development Tools and Technologies:</a:t>
            </a:r>
            <a:endParaRPr lang="en-PH" dirty="0"/>
          </a:p>
        </p:txBody>
      </p:sp>
      <p:sp>
        <p:nvSpPr>
          <p:cNvPr id="18" name="Content Placeholder 17"/>
          <p:cNvSpPr>
            <a:spLocks noGrp="1"/>
          </p:cNvSpPr>
          <p:nvPr>
            <p:ph idx="1"/>
          </p:nvPr>
        </p:nvSpPr>
        <p:spPr>
          <a:xfrm>
            <a:off x="-76200" y="571500"/>
            <a:ext cx="8763000" cy="5554663"/>
          </a:xfrm>
        </p:spPr>
        <p:txBody>
          <a:bodyPr>
            <a:normAutofit/>
          </a:bodyPr>
          <a:lstStyle/>
          <a:p>
            <a:r>
              <a:rPr lang="en-PH" sz="6000" dirty="0"/>
              <a:t>HTML</a:t>
            </a:r>
            <a:endParaRPr lang="en-PH" sz="6000" dirty="0"/>
          </a:p>
          <a:p>
            <a:r>
              <a:rPr lang="en-PH" sz="6000" dirty="0"/>
              <a:t>CSS</a:t>
            </a:r>
            <a:endParaRPr lang="en-PH" sz="6000" dirty="0"/>
          </a:p>
          <a:p>
            <a:r>
              <a:rPr lang="en-PH" sz="6000" dirty="0"/>
              <a:t>JavaScript</a:t>
            </a:r>
            <a:endParaRPr lang="en-PH" sz="6000" dirty="0"/>
          </a:p>
          <a:p>
            <a:r>
              <a:rPr lang="en-PH" sz="6000" dirty="0"/>
              <a:t>MySQL</a:t>
            </a:r>
            <a:endParaRPr lang="en-PH" sz="6000" dirty="0"/>
          </a:p>
          <a:p>
            <a:r>
              <a:rPr lang="en-US" altLang="en-US" sz="6000" dirty="0"/>
              <a:t>MongoDB</a:t>
            </a:r>
            <a:endParaRPr lang="en-US" altLang="en-US" sz="6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6351266" y="3673189"/>
            <a:ext cx="10527535" cy="2885016"/>
          </a:xfrm>
          <a:custGeom>
            <a:avLst/>
            <a:gdLst/>
            <a:ahLst/>
            <a:cxnLst/>
            <a:rect l="l" t="t" r="r" b="b"/>
            <a:pathLst>
              <a:path w="10527535" h="2885016">
                <a:moveTo>
                  <a:pt x="0" y="0"/>
                </a:moveTo>
                <a:lnTo>
                  <a:pt x="10527536" y="0"/>
                </a:lnTo>
                <a:lnTo>
                  <a:pt x="10527536" y="2885016"/>
                </a:lnTo>
                <a:lnTo>
                  <a:pt x="0" y="28850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94056"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311884" y="-967905"/>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626187" y="9253031"/>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2</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8</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itle 10"/>
          <p:cNvSpPr>
            <a:spLocks noGrp="1"/>
          </p:cNvSpPr>
          <p:nvPr>
            <p:ph type="title"/>
          </p:nvPr>
        </p:nvSpPr>
        <p:spPr>
          <a:xfrm>
            <a:off x="-2438400" y="-780372"/>
            <a:ext cx="11125200" cy="2198010"/>
          </a:xfrm>
        </p:spPr>
        <p:txBody>
          <a:bodyPr>
            <a:normAutofit/>
          </a:bodyPr>
          <a:lstStyle/>
          <a:p>
            <a:r>
              <a:rPr lang="en-PH" sz="4800" dirty="0"/>
              <a:t>System Implementation</a:t>
            </a:r>
            <a:r>
              <a:rPr lang="en-PH" dirty="0"/>
              <a:t>:</a:t>
            </a:r>
            <a:endParaRPr lang="en-PH" dirty="0"/>
          </a:p>
        </p:txBody>
      </p:sp>
      <p:sp>
        <p:nvSpPr>
          <p:cNvPr id="10" name="Content Placeholder 9"/>
          <p:cNvSpPr>
            <a:spLocks noGrp="1"/>
          </p:cNvSpPr>
          <p:nvPr>
            <p:ph idx="1"/>
          </p:nvPr>
        </p:nvSpPr>
        <p:spPr>
          <a:xfrm>
            <a:off x="85090" y="1243965"/>
            <a:ext cx="16940530" cy="7499985"/>
          </a:xfrm>
        </p:spPr>
        <p:txBody>
          <a:bodyPr>
            <a:normAutofit/>
          </a:bodyPr>
          <a:lstStyle/>
          <a:p>
            <a:pPr marL="0" indent="0">
              <a:buNone/>
            </a:pPr>
            <a:r>
              <a:rPr lang="en-PH" sz="4000" dirty="0"/>
              <a:t>How the system was developed:</a:t>
            </a:r>
            <a:endParaRPr lang="en-PH" sz="4000" dirty="0"/>
          </a:p>
          <a:p>
            <a:pPr marL="0" indent="0">
              <a:buNone/>
            </a:pPr>
            <a:r>
              <a:rPr lang="en-US" sz="4000" dirty="0"/>
              <a:t>Batch Flow: A POS-Based Supply Chain Management System was developed as a web-based platform to help bakery businesses manage sales, inventory, and supply chain operations efficiently. The system was created using web development technologies such as HTML, CSS, JavaScript, MySQL</a:t>
            </a:r>
            <a:r>
              <a:rPr lang="en-PH" altLang="en-US" sz="4000" dirty="0"/>
              <a:t> </a:t>
            </a:r>
            <a:r>
              <a:rPr lang="en-US" altLang="en-US" sz="4000" dirty="0"/>
              <a:t> </a:t>
            </a:r>
            <a:r>
              <a:rPr lang="en-PH" altLang="en-US" sz="4000" dirty="0"/>
              <a:t>and</a:t>
            </a:r>
            <a:r>
              <a:rPr lang="en-US" altLang="en-US" sz="4000" dirty="0"/>
              <a:t>     MongoDB</a:t>
            </a:r>
            <a:r>
              <a:rPr lang="en-US" sz="4000" dirty="0"/>
              <a:t> to provide a user-friendly and functional interface for bakery staff and administrators. The development focused on automating manual bakery processes, improving transaction accuracy, and providing organized data management.</a:t>
            </a:r>
            <a:endParaRPr lang="en-PH" sz="4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678505" y="874395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2</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9</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2" name="Title 11"/>
          <p:cNvSpPr>
            <a:spLocks noGrp="1"/>
          </p:cNvSpPr>
          <p:nvPr>
            <p:ph type="title"/>
          </p:nvPr>
        </p:nvSpPr>
        <p:spPr/>
        <p:txBody>
          <a:bodyPr>
            <a:normAutofit/>
          </a:bodyPr>
          <a:lstStyle/>
          <a:p>
            <a:r>
              <a:rPr lang="en-US" altLang="en-US" b="1" dirty="0"/>
              <a:t>System Implementation </a:t>
            </a:r>
            <a:endParaRPr lang="en-US" altLang="en-US" b="1" dirty="0"/>
          </a:p>
        </p:txBody>
      </p:sp>
      <p:sp>
        <p:nvSpPr>
          <p:cNvPr id="9" name="Content Placeholder 8"/>
          <p:cNvSpPr>
            <a:spLocks noGrp="1"/>
          </p:cNvSpPr>
          <p:nvPr>
            <p:ph sz="half" idx="1"/>
          </p:nvPr>
        </p:nvSpPr>
        <p:spPr>
          <a:xfrm>
            <a:off x="457200" y="1472191"/>
            <a:ext cx="8229600" cy="7326312"/>
          </a:xfrm>
        </p:spPr>
        <p:txBody>
          <a:bodyPr>
            <a:normAutofit/>
          </a:bodyPr>
          <a:lstStyle/>
          <a:p>
            <a:pPr marL="0" indent="0">
              <a:buNone/>
            </a:pPr>
            <a:r>
              <a:rPr lang="en-PH" sz="4000" dirty="0"/>
              <a:t>Development Process:</a:t>
            </a:r>
            <a:endParaRPr lang="en-PH" sz="4000" dirty="0"/>
          </a:p>
          <a:p>
            <a:r>
              <a:rPr lang="en-PH" sz="3200" b="1" dirty="0"/>
              <a:t>Planning Phase</a:t>
            </a:r>
            <a:r>
              <a:rPr lang="en-PH" sz="3200" dirty="0"/>
              <a:t> </a:t>
            </a:r>
            <a:endParaRPr lang="en-PH" sz="3200" dirty="0"/>
          </a:p>
          <a:p>
            <a:r>
              <a:rPr lang="en-PH" sz="3200" b="1" dirty="0"/>
              <a:t>Requirement Analysis</a:t>
            </a:r>
            <a:endParaRPr lang="en-PH" sz="3200" b="1" dirty="0"/>
          </a:p>
          <a:p>
            <a:r>
              <a:rPr lang="en-PH" sz="3200" b="1" dirty="0"/>
              <a:t>System Design</a:t>
            </a:r>
            <a:endParaRPr lang="en-PH" sz="3200" b="1" dirty="0"/>
          </a:p>
          <a:p>
            <a:r>
              <a:rPr lang="en-PH" sz="3200" b="1" dirty="0"/>
              <a:t>System Development</a:t>
            </a:r>
            <a:endParaRPr lang="en-PH" sz="3200" b="1" dirty="0"/>
          </a:p>
          <a:p>
            <a:r>
              <a:rPr lang="en-PH" sz="3200" b="1" dirty="0"/>
              <a:t>Testing Phase</a:t>
            </a:r>
            <a:r>
              <a:rPr lang="en-PH" sz="3200" dirty="0"/>
              <a:t> </a:t>
            </a:r>
            <a:endParaRPr lang="en-PH" sz="3200" dirty="0"/>
          </a:p>
          <a:p>
            <a:r>
              <a:rPr lang="en-PH" sz="3200" b="1" dirty="0"/>
              <a:t>Implementation Phase</a:t>
            </a:r>
            <a:endParaRPr lang="en-PH" sz="3200" b="1" dirty="0"/>
          </a:p>
          <a:p>
            <a:endParaRPr lang="en-PH" dirty="0"/>
          </a:p>
        </p:txBody>
      </p:sp>
      <p:sp>
        <p:nvSpPr>
          <p:cNvPr id="10" name="Content Placeholder 9"/>
          <p:cNvSpPr>
            <a:spLocks noGrp="1"/>
          </p:cNvSpPr>
          <p:nvPr>
            <p:ph sz="half" idx="2"/>
          </p:nvPr>
        </p:nvSpPr>
        <p:spPr>
          <a:xfrm>
            <a:off x="8686799" y="1417638"/>
            <a:ext cx="9058759" cy="7399592"/>
          </a:xfrm>
        </p:spPr>
        <p:txBody>
          <a:bodyPr/>
          <a:lstStyle/>
          <a:p>
            <a:pPr marL="0" indent="0">
              <a:buNone/>
            </a:pPr>
            <a:r>
              <a:rPr lang="en-PH" sz="4000" dirty="0"/>
              <a:t>Deployment Process:</a:t>
            </a:r>
            <a:endParaRPr lang="en-PH" sz="4000" dirty="0"/>
          </a:p>
          <a:p>
            <a:r>
              <a:rPr lang="en-US" sz="3200" b="1" dirty="0"/>
              <a:t>The system database and source code were uploaded to a web server or hosting platform.</a:t>
            </a:r>
            <a:endParaRPr lang="en-US" sz="3200" b="1" dirty="0"/>
          </a:p>
          <a:p>
            <a:r>
              <a:rPr lang="en-US" sz="3200" b="1" dirty="0"/>
              <a:t>User accounts and system settings were configured for bakery staff and administrators.</a:t>
            </a:r>
            <a:endParaRPr lang="en-US" sz="3200" b="1" dirty="0"/>
          </a:p>
          <a:p>
            <a:r>
              <a:rPr lang="en-US" sz="3200" b="1" dirty="0"/>
              <a:t>Initial bakery products, inventory records, and supplier information were added to the database.</a:t>
            </a:r>
            <a:endParaRPr lang="en-US" sz="3200" b="1" dirty="0"/>
          </a:p>
          <a:p>
            <a:r>
              <a:rPr lang="en-US" sz="3200" b="1" dirty="0"/>
              <a:t>Users were trained on how to use the POS, inventory, and reporting features of the system.</a:t>
            </a:r>
            <a:endParaRPr lang="en-US" sz="3200" b="1" dirty="0"/>
          </a:p>
          <a:p>
            <a:r>
              <a:rPr lang="en-US" sz="3200" b="1" dirty="0"/>
              <a:t>The system was deployed for daily bakery operations and monitored regularly for maintenance and updates</a:t>
            </a:r>
            <a:r>
              <a:rPr lang="en-US" sz="3200" dirty="0"/>
              <a:t>.</a:t>
            </a:r>
            <a:endParaRPr lang="en-US" sz="3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6154120" y="864870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30</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2" name="Title 11"/>
          <p:cNvSpPr>
            <a:spLocks noGrp="1"/>
          </p:cNvSpPr>
          <p:nvPr>
            <p:ph type="title"/>
          </p:nvPr>
        </p:nvSpPr>
        <p:spPr>
          <a:xfrm>
            <a:off x="457200" y="274955"/>
            <a:ext cx="10836910" cy="1143000"/>
          </a:xfrm>
        </p:spPr>
        <p:txBody>
          <a:bodyPr>
            <a:normAutofit fontScale="90000"/>
          </a:bodyPr>
          <a:lstStyle/>
          <a:p>
            <a:pPr algn="l"/>
            <a:r>
              <a:rPr lang="en-US" altLang="en-US" b="1" dirty="0"/>
              <a:t>Testing and Evaluation</a:t>
            </a:r>
            <a:br>
              <a:rPr lang="en-US" altLang="en-US" b="1" dirty="0"/>
            </a:br>
            <a:r>
              <a:rPr lang="en-US" altLang="en-US" b="1" dirty="0"/>
              <a:t>Test Case</a:t>
            </a:r>
            <a:endParaRPr lang="en-US" altLang="en-US" b="1" dirty="0"/>
          </a:p>
        </p:txBody>
      </p:sp>
      <p:pic>
        <p:nvPicPr>
          <p:cNvPr id="13" name="Content Placeholder 12" descr="Screenshot 2026-05-29 073016"/>
          <p:cNvPicPr>
            <a:picLocks noChangeAspect="1"/>
          </p:cNvPicPr>
          <p:nvPr>
            <p:ph sz="half" idx="1"/>
          </p:nvPr>
        </p:nvPicPr>
        <p:blipFill>
          <a:blip r:embed="rId7"/>
          <a:stretch>
            <a:fillRect/>
          </a:stretch>
        </p:blipFill>
        <p:spPr>
          <a:xfrm>
            <a:off x="990600" y="1485900"/>
            <a:ext cx="7558405" cy="8466455"/>
          </a:xfrm>
          <a:prstGeom prst="rect">
            <a:avLst/>
          </a:prstGeom>
        </p:spPr>
      </p:pic>
      <p:pic>
        <p:nvPicPr>
          <p:cNvPr id="14" name="Content Placeholder 13" descr="Screenshot 2026-05-29 073142"/>
          <p:cNvPicPr>
            <a:picLocks noChangeAspect="1"/>
          </p:cNvPicPr>
          <p:nvPr>
            <p:ph sz="half" idx="2"/>
          </p:nvPr>
        </p:nvPicPr>
        <p:blipFill>
          <a:blip r:embed="rId8"/>
          <a:stretch>
            <a:fillRect/>
          </a:stretch>
        </p:blipFill>
        <p:spPr>
          <a:xfrm>
            <a:off x="8686800" y="1485900"/>
            <a:ext cx="7408545" cy="84670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8271719"/>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76643">
            <a:off x="10588938" y="8777647"/>
            <a:ext cx="4052422" cy="2763015"/>
          </a:xfrm>
          <a:custGeom>
            <a:avLst/>
            <a:gdLst/>
            <a:ahLst/>
            <a:cxnLst/>
            <a:rect l="l" t="t" r="r" b="b"/>
            <a:pathLst>
              <a:path w="4052422" h="2763015">
                <a:moveTo>
                  <a:pt x="0" y="0"/>
                </a:moveTo>
                <a:lnTo>
                  <a:pt x="4052421" y="0"/>
                </a:lnTo>
                <a:lnTo>
                  <a:pt x="4052421"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74315" y="7578114"/>
            <a:ext cx="18836630" cy="5162080"/>
          </a:xfrm>
          <a:custGeom>
            <a:avLst/>
            <a:gdLst/>
            <a:ahLst/>
            <a:cxnLst/>
            <a:rect l="l" t="t" r="r" b="b"/>
            <a:pathLst>
              <a:path w="18836630" h="5162080">
                <a:moveTo>
                  <a:pt x="0" y="0"/>
                </a:moveTo>
                <a:lnTo>
                  <a:pt x="18836630" y="0"/>
                </a:lnTo>
                <a:lnTo>
                  <a:pt x="18836630" y="5162081"/>
                </a:lnTo>
                <a:lnTo>
                  <a:pt x="0" y="51620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678505" y="8743950"/>
            <a:ext cx="1580795"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31</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2" name="Title 11"/>
          <p:cNvSpPr>
            <a:spLocks noGrp="1"/>
          </p:cNvSpPr>
          <p:nvPr>
            <p:ph type="title"/>
          </p:nvPr>
        </p:nvSpPr>
        <p:spPr>
          <a:xfrm>
            <a:off x="457200" y="274638"/>
            <a:ext cx="16611600" cy="8412162"/>
          </a:xfrm>
        </p:spPr>
        <p:txBody>
          <a:bodyPr>
            <a:normAutofit/>
          </a:bodyPr>
          <a:lstStyle/>
          <a:p>
            <a:r>
              <a:rPr lang="en-PH" sz="8000" dirty="0"/>
              <a:t>CHAPTER 5</a:t>
            </a:r>
            <a:br>
              <a:rPr lang="en-PH" sz="8000" dirty="0"/>
            </a:br>
            <a:br>
              <a:rPr lang="en-PH" sz="8000" dirty="0"/>
            </a:br>
            <a:r>
              <a:rPr lang="en-PH" sz="8000" dirty="0"/>
              <a:t>CONCLUSION AND RECCOMENDATION</a:t>
            </a:r>
            <a:endParaRPr lang="en-PH" sz="8000" dirty="0"/>
          </a:p>
        </p:txBody>
      </p:sp>
      <p:sp>
        <p:nvSpPr>
          <p:cNvPr id="9" name="Content Placeholder 8"/>
          <p:cNvSpPr>
            <a:spLocks noGrp="1"/>
          </p:cNvSpPr>
          <p:nvPr>
            <p:ph idx="4294967295"/>
          </p:nvPr>
        </p:nvSpPr>
        <p:spPr>
          <a:xfrm>
            <a:off x="0" y="1600200"/>
            <a:ext cx="8229600" cy="4525963"/>
          </a:xfrm>
        </p:spPr>
        <p:txBody>
          <a:bodyPr>
            <a:normAutofit/>
          </a:bodyPr>
          <a:lstStyle/>
          <a:p>
            <a:endParaRPr lang="en-PH" dirty="0"/>
          </a:p>
          <a:p>
            <a:endParaRPr lang="en-PH" dirty="0"/>
          </a:p>
          <a:p>
            <a:endParaRPr lang="en-PH"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2700000" flipH="1">
            <a:off x="16380400" y="6951855"/>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10800000">
            <a:off x="-352074" y="-588361"/>
            <a:ext cx="10694157" cy="10634539"/>
            <a:chOff x="0" y="0"/>
            <a:chExt cx="3052786" cy="2800866"/>
          </a:xfrm>
        </p:grpSpPr>
        <p:sp>
          <p:nvSpPr>
            <p:cNvPr id="4" name="Freeform 4"/>
            <p:cNvSpPr/>
            <p:nvPr/>
          </p:nvSpPr>
          <p:spPr>
            <a:xfrm>
              <a:off x="0" y="0"/>
              <a:ext cx="3052787" cy="2800866"/>
            </a:xfrm>
            <a:custGeom>
              <a:avLst/>
              <a:gdLst/>
              <a:ahLst/>
              <a:cxnLst/>
              <a:rect l="l" t="t" r="r" b="b"/>
              <a:pathLst>
                <a:path w="3052787" h="2800866">
                  <a:moveTo>
                    <a:pt x="0" y="0"/>
                  </a:moveTo>
                  <a:lnTo>
                    <a:pt x="3052787" y="0"/>
                  </a:lnTo>
                  <a:lnTo>
                    <a:pt x="3052787" y="2800866"/>
                  </a:lnTo>
                  <a:lnTo>
                    <a:pt x="0" y="2800866"/>
                  </a:lnTo>
                  <a:close/>
                </a:path>
              </a:pathLst>
            </a:custGeom>
            <a:solidFill>
              <a:srgbClr val="FCE38B"/>
            </a:solidFill>
          </p:spPr>
          <p:txBody>
            <a:bodyPr/>
            <a:lstStyle/>
            <a:p>
              <a:endParaRPr lang="en-PH" dirty="0"/>
            </a:p>
          </p:txBody>
        </p:sp>
        <p:sp>
          <p:nvSpPr>
            <p:cNvPr id="5" name="TextBox 5"/>
            <p:cNvSpPr txBox="1"/>
            <p:nvPr/>
          </p:nvSpPr>
          <p:spPr>
            <a:xfrm>
              <a:off x="0" y="-38100"/>
              <a:ext cx="3052786" cy="2838966"/>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788385" y="-713142"/>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2702185" y="8801086"/>
            <a:ext cx="4052422" cy="2763015"/>
          </a:xfrm>
          <a:custGeom>
            <a:avLst/>
            <a:gdLst/>
            <a:ahLst/>
            <a:cxnLst/>
            <a:rect l="l" t="t" r="r" b="b"/>
            <a:pathLst>
              <a:path w="4052422" h="2763015">
                <a:moveTo>
                  <a:pt x="4052422" y="0"/>
                </a:moveTo>
                <a:lnTo>
                  <a:pt x="0" y="0"/>
                </a:lnTo>
                <a:lnTo>
                  <a:pt x="0" y="2763015"/>
                </a:lnTo>
                <a:lnTo>
                  <a:pt x="4052422" y="2763015"/>
                </a:lnTo>
                <a:lnTo>
                  <a:pt x="4052422"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rot="5400000">
            <a:off x="6084740" y="3821259"/>
            <a:ext cx="10527535" cy="2885016"/>
          </a:xfrm>
          <a:custGeom>
            <a:avLst/>
            <a:gdLst/>
            <a:ahLst/>
            <a:cxnLst/>
            <a:rect l="l" t="t" r="r" b="b"/>
            <a:pathLst>
              <a:path w="10527535" h="2885016">
                <a:moveTo>
                  <a:pt x="0" y="0"/>
                </a:moveTo>
                <a:lnTo>
                  <a:pt x="10527535" y="0"/>
                </a:lnTo>
                <a:lnTo>
                  <a:pt x="10527535" y="2885016"/>
                </a:lnTo>
                <a:lnTo>
                  <a:pt x="0" y="28850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5365835"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32</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7" name="Title 16"/>
          <p:cNvSpPr>
            <a:spLocks noGrp="1"/>
          </p:cNvSpPr>
          <p:nvPr>
            <p:ph type="title"/>
          </p:nvPr>
        </p:nvSpPr>
        <p:spPr>
          <a:xfrm>
            <a:off x="-6400800" y="-925056"/>
            <a:ext cx="15087599" cy="2342694"/>
          </a:xfrm>
        </p:spPr>
        <p:txBody>
          <a:bodyPr>
            <a:normAutofit/>
          </a:bodyPr>
          <a:lstStyle/>
          <a:p>
            <a:r>
              <a:rPr lang="en-PH" sz="5400" dirty="0"/>
              <a:t>       Conclusion:</a:t>
            </a:r>
            <a:endParaRPr lang="en-PH" sz="5400" dirty="0"/>
          </a:p>
        </p:txBody>
      </p:sp>
      <p:sp>
        <p:nvSpPr>
          <p:cNvPr id="18" name="Content Placeholder 17"/>
          <p:cNvSpPr>
            <a:spLocks noGrp="1"/>
          </p:cNvSpPr>
          <p:nvPr>
            <p:ph idx="1"/>
          </p:nvPr>
        </p:nvSpPr>
        <p:spPr>
          <a:xfrm>
            <a:off x="-76200" y="571500"/>
            <a:ext cx="16840200" cy="8162356"/>
          </a:xfrm>
        </p:spPr>
        <p:txBody>
          <a:bodyPr>
            <a:noAutofit/>
          </a:bodyPr>
          <a:lstStyle/>
          <a:p>
            <a:pPr marL="0" indent="0">
              <a:buNone/>
            </a:pPr>
            <a:r>
              <a:rPr lang="en-US" altLang="en-US" sz="4000" dirty="0"/>
              <a:t>The development of Batch Flow: A POS-Based Supply Chain Management System successfully achieved its goal of creating an efficient and reliable web-based platform for bakery operations.</a:t>
            </a:r>
            <a:endParaRPr lang="en-US" altLang="en-US" sz="4000" dirty="0"/>
          </a:p>
          <a:p>
            <a:pPr marL="0" indent="0">
              <a:buNone/>
            </a:pPr>
            <a:r>
              <a:rPr lang="en-US" altLang="en-US" sz="4000" dirty="0"/>
              <a:t>The system integrated important business processes such as POS transactions, inventory monitoring, supply chain coordination, sales tracking, and order management into one centralized platform.</a:t>
            </a:r>
            <a:endParaRPr lang="en-US" altLang="en-US" sz="4000" dirty="0"/>
          </a:p>
          <a:p>
            <a:pPr marL="0" indent="0">
              <a:buNone/>
            </a:pPr>
            <a:r>
              <a:rPr lang="en-US" altLang="en-US" sz="4000" dirty="0"/>
              <a:t>By using modern web technologies and the Agile development methodology, the project provided a user-friendly and responsive system for bakery businesses.</a:t>
            </a:r>
            <a:endParaRPr lang="en-US" altLang="en-US" sz="4000" dirty="0"/>
          </a:p>
          <a:p>
            <a:pPr marL="0" indent="0">
              <a:buNone/>
            </a:pPr>
            <a:r>
              <a:rPr lang="en-US" altLang="en-US" sz="4000" dirty="0"/>
              <a:t>The system improved operational workflow, enhanced data accuracy, reduced manual workloads, and provided real-time access to business information.</a:t>
            </a:r>
            <a:endParaRPr lang="en-US" altLang="en-US" sz="4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rot="-5400000">
            <a:off x="6351266" y="3673189"/>
            <a:ext cx="10527535" cy="2885016"/>
          </a:xfrm>
          <a:custGeom>
            <a:avLst/>
            <a:gdLst/>
            <a:ahLst/>
            <a:cxnLst/>
            <a:rect l="l" t="t" r="r" b="b"/>
            <a:pathLst>
              <a:path w="10527535" h="2885016">
                <a:moveTo>
                  <a:pt x="0" y="0"/>
                </a:moveTo>
                <a:lnTo>
                  <a:pt x="10527536" y="0"/>
                </a:lnTo>
                <a:lnTo>
                  <a:pt x="10527536" y="2885016"/>
                </a:lnTo>
                <a:lnTo>
                  <a:pt x="0" y="28850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94056" y="-347539"/>
            <a:ext cx="7367721" cy="10982077"/>
            <a:chOff x="0" y="0"/>
            <a:chExt cx="1940470" cy="2892399"/>
          </a:xfrm>
        </p:grpSpPr>
        <p:sp>
          <p:nvSpPr>
            <p:cNvPr id="4" name="Freeform 4"/>
            <p:cNvSpPr/>
            <p:nvPr/>
          </p:nvSpPr>
          <p:spPr>
            <a:xfrm>
              <a:off x="0" y="0"/>
              <a:ext cx="1940470" cy="2892399"/>
            </a:xfrm>
            <a:custGeom>
              <a:avLst/>
              <a:gdLst/>
              <a:ahLst/>
              <a:cxnLst/>
              <a:rect l="l" t="t" r="r" b="b"/>
              <a:pathLst>
                <a:path w="1940470" h="2892399">
                  <a:moveTo>
                    <a:pt x="0" y="0"/>
                  </a:moveTo>
                  <a:lnTo>
                    <a:pt x="1940470" y="0"/>
                  </a:lnTo>
                  <a:lnTo>
                    <a:pt x="1940470" y="2892399"/>
                  </a:lnTo>
                  <a:lnTo>
                    <a:pt x="0" y="2892399"/>
                  </a:lnTo>
                  <a:close/>
                </a:path>
              </a:pathLst>
            </a:custGeom>
            <a:solidFill>
              <a:srgbClr val="FCE38B"/>
            </a:solidFill>
          </p:spPr>
        </p:sp>
        <p:sp>
          <p:nvSpPr>
            <p:cNvPr id="5" name="TextBox 5"/>
            <p:cNvSpPr txBox="1"/>
            <p:nvPr/>
          </p:nvSpPr>
          <p:spPr>
            <a:xfrm>
              <a:off x="0" y="-38100"/>
              <a:ext cx="1940470" cy="2930499"/>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flipH="1" flipV="1">
            <a:off x="5311884" y="-967905"/>
            <a:ext cx="3294021" cy="2198010"/>
          </a:xfrm>
          <a:custGeom>
            <a:avLst/>
            <a:gdLst/>
            <a:ahLst/>
            <a:cxnLst/>
            <a:rect l="l" t="t" r="r" b="b"/>
            <a:pathLst>
              <a:path w="3294021" h="2198010">
                <a:moveTo>
                  <a:pt x="3294020" y="2198010"/>
                </a:moveTo>
                <a:lnTo>
                  <a:pt x="0" y="2198010"/>
                </a:lnTo>
                <a:lnTo>
                  <a:pt x="0" y="0"/>
                </a:lnTo>
                <a:lnTo>
                  <a:pt x="3294020" y="0"/>
                </a:lnTo>
                <a:lnTo>
                  <a:pt x="3294020" y="21980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626187" y="9253031"/>
            <a:ext cx="4052422" cy="2763015"/>
          </a:xfrm>
          <a:custGeom>
            <a:avLst/>
            <a:gdLst/>
            <a:ahLst/>
            <a:cxnLst/>
            <a:rect l="l" t="t" r="r" b="b"/>
            <a:pathLst>
              <a:path w="4052422" h="2763015">
                <a:moveTo>
                  <a:pt x="4052421" y="0"/>
                </a:moveTo>
                <a:lnTo>
                  <a:pt x="0" y="0"/>
                </a:lnTo>
                <a:lnTo>
                  <a:pt x="0" y="2763015"/>
                </a:lnTo>
                <a:lnTo>
                  <a:pt x="4052421" y="2763015"/>
                </a:lnTo>
                <a:lnTo>
                  <a:pt x="4052421"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33</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1" name="Title 10"/>
          <p:cNvSpPr>
            <a:spLocks noGrp="1"/>
          </p:cNvSpPr>
          <p:nvPr>
            <p:ph type="title"/>
          </p:nvPr>
        </p:nvSpPr>
        <p:spPr>
          <a:xfrm>
            <a:off x="-3810000" y="-647700"/>
            <a:ext cx="12496800" cy="2065338"/>
          </a:xfrm>
        </p:spPr>
        <p:txBody>
          <a:bodyPr>
            <a:normAutofit/>
          </a:bodyPr>
          <a:lstStyle/>
          <a:p>
            <a:r>
              <a:rPr lang="en-PH" sz="4800" dirty="0" err="1"/>
              <a:t>Reccomendation</a:t>
            </a:r>
            <a:r>
              <a:rPr lang="en-PH" sz="4800" dirty="0"/>
              <a:t>:</a:t>
            </a:r>
            <a:endParaRPr lang="en-PH" sz="4800" dirty="0"/>
          </a:p>
        </p:txBody>
      </p:sp>
      <p:sp>
        <p:nvSpPr>
          <p:cNvPr id="18" name="Rectangle 3"/>
          <p:cNvSpPr>
            <a:spLocks noGrp="1" noChangeArrowheads="1"/>
          </p:cNvSpPr>
          <p:nvPr>
            <p:ph idx="1"/>
          </p:nvPr>
        </p:nvSpPr>
        <p:spPr bwMode="auto">
          <a:xfrm>
            <a:off x="228600" y="800100"/>
            <a:ext cx="18897600" cy="747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4000" b="0" i="0" u="none" strike="noStrike" cap="none" normalizeH="0" baseline="0" dirty="0">
                <a:ln>
                  <a:noFill/>
                </a:ln>
                <a:solidFill>
                  <a:schemeClr val="tx1"/>
                </a:solidFill>
                <a:effectLst/>
                <a:latin typeface="Arial" panose="020B0604020202020204" pitchFamily="34" charset="0"/>
              </a:rPr>
              <a:t>For future improvements, it is recommended that Batch Flow: A POS-Based Supply Chain Management System continue enhancing its functionality and adaptability to meet the growing needs of bakery businesses.</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4000" b="0" i="0" u="none" strike="noStrike" cap="none" normalizeH="0" baseline="0" dirty="0">
                <a:ln>
                  <a:noFill/>
                </a:ln>
                <a:solidFill>
                  <a:schemeClr val="tx1"/>
                </a:solidFill>
                <a:effectLst/>
                <a:latin typeface="Arial" panose="020B0604020202020204" pitchFamily="34" charset="0"/>
              </a:rPr>
              <a:t>Improving the user interface and user experience can make the system easier to use for administrators, cashiers, managers, suppliers, and customers.</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4000" b="0" i="0" u="none" strike="noStrike" cap="none" normalizeH="0" baseline="0" dirty="0">
                <a:ln>
                  <a:noFill/>
                </a:ln>
                <a:solidFill>
                  <a:schemeClr val="tx1"/>
                </a:solidFill>
                <a:effectLst/>
                <a:latin typeface="Arial" panose="020B0604020202020204" pitchFamily="34" charset="0"/>
              </a:rPr>
              <a:t>Possible upgrades include developing a mobile application version for easier access through smartphones and tablets.</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4000" b="0" i="0" u="none" strike="noStrike" cap="none" normalizeH="0" baseline="0" dirty="0">
                <a:ln>
                  <a:noFill/>
                </a:ln>
                <a:solidFill>
                  <a:schemeClr val="tx1"/>
                </a:solidFill>
                <a:effectLst/>
                <a:latin typeface="Arial" panose="020B0604020202020204" pitchFamily="34" charset="0"/>
              </a:rPr>
              <a:t>In the future, the system may also integrate Artificial Intelligence features for automated demand forecasting, smart inventory recommendations, and customer behavior analysis.</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4000" b="0" i="0" u="none" strike="noStrike" cap="none" normalizeH="0" baseline="0" dirty="0">
                <a:ln>
                  <a:noFill/>
                </a:ln>
                <a:solidFill>
                  <a:schemeClr val="tx1"/>
                </a:solidFill>
                <a:effectLst/>
                <a:latin typeface="Arial" panose="020B0604020202020204" pitchFamily="34" charset="0"/>
              </a:rPr>
              <a:t>These enhancements can help Batch Flow become a more advanced, efficient, and competitive bakery management solution.</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E4A24C">
                <a:alpha val="100000"/>
              </a:srgbClr>
            </a:gs>
            <a:gs pos="100000">
              <a:srgbClr val="D48B1B">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626187" y="9258300"/>
            <a:ext cx="3294021" cy="2198010"/>
          </a:xfrm>
          <a:custGeom>
            <a:avLst/>
            <a:gdLst/>
            <a:ahLst/>
            <a:cxnLst/>
            <a:rect l="l" t="t" r="r" b="b"/>
            <a:pathLst>
              <a:path w="3294021" h="2198010">
                <a:moveTo>
                  <a:pt x="0" y="0"/>
                </a:moveTo>
                <a:lnTo>
                  <a:pt x="3294020" y="0"/>
                </a:lnTo>
                <a:lnTo>
                  <a:pt x="3294020" y="2198010"/>
                </a:lnTo>
                <a:lnTo>
                  <a:pt x="0" y="21980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3421158" y="-1255035"/>
            <a:ext cx="3294021" cy="2198010"/>
          </a:xfrm>
          <a:custGeom>
            <a:avLst/>
            <a:gdLst/>
            <a:ahLst/>
            <a:cxnLst/>
            <a:rect l="l" t="t" r="r" b="b"/>
            <a:pathLst>
              <a:path w="3294021" h="2198010">
                <a:moveTo>
                  <a:pt x="3294021" y="2198010"/>
                </a:moveTo>
                <a:lnTo>
                  <a:pt x="0" y="2198010"/>
                </a:lnTo>
                <a:lnTo>
                  <a:pt x="0" y="0"/>
                </a:lnTo>
                <a:lnTo>
                  <a:pt x="3294021" y="0"/>
                </a:lnTo>
                <a:lnTo>
                  <a:pt x="3294021" y="219801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11741641" y="9029693"/>
            <a:ext cx="4052422" cy="2763015"/>
          </a:xfrm>
          <a:custGeom>
            <a:avLst/>
            <a:gdLst/>
            <a:ahLst/>
            <a:cxnLst/>
            <a:rect l="l" t="t" r="r" b="b"/>
            <a:pathLst>
              <a:path w="4052422" h="2763015">
                <a:moveTo>
                  <a:pt x="0" y="0"/>
                </a:moveTo>
                <a:lnTo>
                  <a:pt x="4052422" y="0"/>
                </a:lnTo>
                <a:lnTo>
                  <a:pt x="4052422" y="2763015"/>
                </a:lnTo>
                <a:lnTo>
                  <a:pt x="0" y="2763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flipV="1">
            <a:off x="3778184" y="-1537537"/>
            <a:ext cx="4052422" cy="2763015"/>
          </a:xfrm>
          <a:custGeom>
            <a:avLst/>
            <a:gdLst/>
            <a:ahLst/>
            <a:cxnLst/>
            <a:rect l="l" t="t" r="r" b="b"/>
            <a:pathLst>
              <a:path w="4052422" h="2763015">
                <a:moveTo>
                  <a:pt x="4052422" y="2763014"/>
                </a:moveTo>
                <a:lnTo>
                  <a:pt x="0" y="2763014"/>
                </a:lnTo>
                <a:lnTo>
                  <a:pt x="0" y="0"/>
                </a:lnTo>
                <a:lnTo>
                  <a:pt x="4052422" y="0"/>
                </a:lnTo>
                <a:lnTo>
                  <a:pt x="4052422" y="27630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5400000">
            <a:off x="11531833" y="3358341"/>
            <a:ext cx="13028228" cy="3570318"/>
          </a:xfrm>
          <a:custGeom>
            <a:avLst/>
            <a:gdLst/>
            <a:ahLst/>
            <a:cxnLst/>
            <a:rect l="l" t="t" r="r" b="b"/>
            <a:pathLst>
              <a:path w="13028228" h="3570318">
                <a:moveTo>
                  <a:pt x="0" y="0"/>
                </a:moveTo>
                <a:lnTo>
                  <a:pt x="13028228" y="0"/>
                </a:lnTo>
                <a:lnTo>
                  <a:pt x="13028228" y="3570318"/>
                </a:lnTo>
                <a:lnTo>
                  <a:pt x="0" y="35703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flipH="1" flipV="1">
            <a:off x="-6181414" y="3641294"/>
            <a:ext cx="13028228" cy="3570318"/>
          </a:xfrm>
          <a:custGeom>
            <a:avLst/>
            <a:gdLst/>
            <a:ahLst/>
            <a:cxnLst/>
            <a:rect l="l" t="t" r="r" b="b"/>
            <a:pathLst>
              <a:path w="13028228" h="3570318">
                <a:moveTo>
                  <a:pt x="13028228" y="3570318"/>
                </a:moveTo>
                <a:lnTo>
                  <a:pt x="0" y="3570318"/>
                </a:lnTo>
                <a:lnTo>
                  <a:pt x="0" y="0"/>
                </a:lnTo>
                <a:lnTo>
                  <a:pt x="13028228" y="0"/>
                </a:lnTo>
                <a:lnTo>
                  <a:pt x="13028228" y="3570318"/>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028700" y="1029745"/>
            <a:ext cx="460990" cy="455123"/>
          </a:xfrm>
          <a:custGeom>
            <a:avLst/>
            <a:gdLst/>
            <a:ahLst/>
            <a:cxnLst/>
            <a:rect l="l" t="t" r="r" b="b"/>
            <a:pathLst>
              <a:path w="460990" h="455123">
                <a:moveTo>
                  <a:pt x="0" y="0"/>
                </a:moveTo>
                <a:lnTo>
                  <a:pt x="460990" y="0"/>
                </a:lnTo>
                <a:lnTo>
                  <a:pt x="460990" y="455123"/>
                </a:lnTo>
                <a:lnTo>
                  <a:pt x="0" y="4551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15996990" y="8743936"/>
            <a:ext cx="1262310" cy="538480"/>
          </a:xfrm>
          <a:prstGeom prst="rect">
            <a:avLst/>
          </a:prstGeom>
        </p:spPr>
        <p:txBody>
          <a:bodyPr lIns="0" tIns="0" rIns="0" bIns="0" rtlCol="0" anchor="t">
            <a:spAutoFit/>
          </a:bodyPr>
          <a:lstStyle/>
          <a:p>
            <a:pPr marL="0" lvl="0" indent="0" algn="r">
              <a:lnSpc>
                <a:spcPts val="4200"/>
              </a:lnSpc>
              <a:spcBef>
                <a:spcPct val="0"/>
              </a:spcBef>
            </a:pPr>
            <a:r>
              <a:rPr 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PAGE </a:t>
            </a:r>
            <a:r>
              <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rPr>
              <a:t>34</a:t>
            </a:r>
            <a:endParaRPr lang="en-PH" altLang="en-US" sz="3000" dirty="0">
              <a:solidFill>
                <a:srgbClr val="000000"/>
              </a:solidFill>
              <a:latin typeface="One Little Font" panose="00000500000000000000"/>
              <a:ea typeface="One Little Font" panose="00000500000000000000"/>
              <a:cs typeface="One Little Font" panose="00000500000000000000"/>
              <a:sym typeface="One Little Font" panose="00000500000000000000"/>
            </a:endParaRPr>
          </a:p>
        </p:txBody>
      </p:sp>
      <p:sp>
        <p:nvSpPr>
          <p:cNvPr id="13" name="Title 12"/>
          <p:cNvSpPr>
            <a:spLocks noGrp="1"/>
          </p:cNvSpPr>
          <p:nvPr>
            <p:ph type="title"/>
          </p:nvPr>
        </p:nvSpPr>
        <p:spPr>
          <a:xfrm>
            <a:off x="457200" y="274638"/>
            <a:ext cx="17297400" cy="8270798"/>
          </a:xfrm>
        </p:spPr>
        <p:txBody>
          <a:bodyPr>
            <a:normAutofit/>
          </a:bodyPr>
          <a:lstStyle/>
          <a:p>
            <a:r>
              <a:rPr lang="en-PH" sz="8000" dirty="0"/>
              <a:t>THANK YOU</a:t>
            </a:r>
            <a:br>
              <a:rPr lang="en-PH" sz="8000" dirty="0"/>
            </a:br>
            <a:r>
              <a:rPr lang="en-PH" sz="8000" dirty="0"/>
              <a:t>FOR </a:t>
            </a:r>
            <a:br>
              <a:rPr lang="en-PH" sz="8000" dirty="0"/>
            </a:br>
            <a:r>
              <a:rPr lang="en-PH" sz="8000" dirty="0"/>
              <a:t>LISTENING!</a:t>
            </a:r>
            <a:endParaRPr lang="en-PH" sz="8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12918</Words>
  <Application>WPS Slides</Application>
  <PresentationFormat>Custom</PresentationFormat>
  <Paragraphs>360</Paragraphs>
  <Slides>34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Arial</vt:lpstr>
      <vt:lpstr>SimSun</vt:lpstr>
      <vt:lpstr>Wingdings</vt:lpstr>
      <vt:lpstr>One Little Font</vt:lpstr>
      <vt:lpstr>One Little Font Bold</vt:lpstr>
      <vt:lpstr>Segoe Print</vt:lpstr>
      <vt:lpstr>Calibri</vt:lpstr>
      <vt:lpstr>Microsoft YaHei</vt:lpstr>
      <vt:lpstr>Arial Unicode MS</vt:lpstr>
      <vt:lpstr>One Little Font</vt:lpstr>
      <vt:lpstr>Times New Roman</vt:lpstr>
      <vt:lpstr>等线</vt:lpstr>
      <vt:lpstr>Office Theme</vt:lpstr>
      <vt:lpstr>PowerPoint 演示文稿</vt:lpstr>
      <vt:lpstr>CHAPTER 1  INTRODUCTION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2  RELATED LITERATURE AND SYSTEMS</vt:lpstr>
      <vt:lpstr>Related Literature:</vt:lpstr>
      <vt:lpstr>Related Systems:</vt:lpstr>
      <vt:lpstr>Strengths and Weaknesses</vt:lpstr>
      <vt:lpstr>CHAPTER 3  SYSTEM ANALYSIS AND DESIGN</vt:lpstr>
      <vt:lpstr>Development Methodology:</vt:lpstr>
      <vt:lpstr>Proposed System Features:</vt:lpstr>
      <vt:lpstr>System Overview Diagram: System Flowchart</vt:lpstr>
      <vt:lpstr>Database Design:</vt:lpstr>
      <vt:lpstr>   Functional Requirements:</vt:lpstr>
      <vt:lpstr>Non-Functional Requirements:</vt:lpstr>
      <vt:lpstr>CHAPTER 4  SYSTEM DEVELOPMENT AND TESTING</vt:lpstr>
      <vt:lpstr>Development Tools and Technologies:</vt:lpstr>
      <vt:lpstr>System Implementation:</vt:lpstr>
      <vt:lpstr>PowerPoint 演示文稿</vt:lpstr>
      <vt:lpstr>System Implementation </vt:lpstr>
      <vt:lpstr>CHAPTER 5  CONCLUSION AND RECCOMENDATION</vt:lpstr>
      <vt:lpstr>       Conclusion:</vt:lpstr>
      <vt:lpstr>Reccomendation:</vt:lpstr>
      <vt:lpstr>THANK YOU FOR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Flow:</dc:title>
  <dc:creator>Jerome</dc:creator>
  <cp:lastModifiedBy>ClaireAlysa Teoxon</cp:lastModifiedBy>
  <cp:revision>7</cp:revision>
  <dcterms:created xsi:type="dcterms:W3CDTF">2006-08-16T00:00:00Z</dcterms:created>
  <dcterms:modified xsi:type="dcterms:W3CDTF">2026-05-28T23:38:20Z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D96647238FAC4BBA82004AF486C0FA51_12</vt:lpwstr>
  </property>
  <property fmtid="{D5CDD505-2E9C-101B-9397-08002B2CF9AE}" pid="3" name="KSOProductBuildVer">
    <vt:lpwstr>1033-12.2.0.20795</vt:lpwstr>
  </property>
</Properties>
</file>